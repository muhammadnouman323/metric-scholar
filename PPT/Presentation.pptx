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7" r:id="rId9"/>
    <p:sldId id="263" r:id="rId10"/>
    <p:sldId id="264" r:id="rId11"/>
    <p:sldId id="265" r:id="rId12"/>
    <p:sldId id="266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2" d="100"/>
          <a:sy n="102" d="100"/>
        </p:scale>
        <p:origin x="918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294350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Fade the title in with a gentle Zoom; let the pastel circles float slowly upward. Reveal the info block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Fade the three cards in one by one (left to right) with Float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Zoom the avatar, then fade each role card in sequentially; wipe the contribution strip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Reveal each problem row with a Float In; fade the lavender 'Why It Matters' panel in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Zoom each feature card in one at a time; wipe the BENEFITS strip from the left.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Fade in the entity cards column by column, then draw the relationship lines with a Wipe. Keep this diagram as your final ERD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Animate the tier cards left to right with Float In, then reveal the data-flow chips and arrows sequentially.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65132-8717-B737-FFEB-900CC18FD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18ABD8-C085-0033-ACC2-AC6663D76E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6627A6-A209-E943-C97B-95E22D56E2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Stagger the six cards with a gentle Fade / Zoom, row by row.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0292E7-9168-CE83-0C58-340F19A370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937162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Stagger the six cards with a gentle Fade / Zoom, row by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Fade the feature cards in, then float the mockup in from the right. Replace the drawn mockup with real application screenshots before the viva.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Fade the summary card in first, then the future improvements; wipe the bottom strip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Zoom the THANK YOU heading in, then fade in the subtitle and details. A gentle pulse on the decorative circles feels polished.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jpe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jpe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jpe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png"/><Relationship Id="rId3" Type="http://schemas.openxmlformats.org/officeDocument/2006/relationships/image" Target="../media/image16.jpe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jpe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gradFill>
            <a:gsLst>
              <a:gs pos="0">
                <a:srgbClr val="FAF8F4"/>
              </a:gs>
              <a:gs pos="100000">
                <a:srgbClr val="F1EEF7"/>
              </a:gs>
            </a:gsLst>
            <a:lin ang="63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692640" y="-1828800"/>
            <a:ext cx="5303520" cy="5303520"/>
          </a:xfrm>
          <a:prstGeom prst="ellipse">
            <a:avLst/>
          </a:prstGeom>
          <a:solidFill>
            <a:srgbClr val="7EC8E3">
              <a:alpha val="60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2011680" y="4754880"/>
            <a:ext cx="4206240" cy="4206240"/>
          </a:xfrm>
          <a:prstGeom prst="ellipse">
            <a:avLst/>
          </a:prstGeom>
          <a:solidFill>
            <a:srgbClr val="B8A7E0">
              <a:alpha val="60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680960" y="5120640"/>
            <a:ext cx="3108960" cy="3108960"/>
          </a:xfrm>
          <a:prstGeom prst="ellipse">
            <a:avLst/>
          </a:prstGeom>
          <a:solidFill>
            <a:srgbClr val="98D8C8">
              <a:alpha val="55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972800" y="2651760"/>
            <a:ext cx="1097280" cy="1097280"/>
          </a:xfrm>
          <a:prstGeom prst="ellipse">
            <a:avLst/>
          </a:prstGeom>
          <a:solidFill>
            <a:srgbClr val="E8D9C4">
              <a:alpha val="70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" y="658368"/>
            <a:ext cx="2514600" cy="457200"/>
          </a:xfrm>
          <a:prstGeom prst="roundRect">
            <a:avLst>
              <a:gd name="adj" fmla="val 50000"/>
            </a:avLst>
          </a:prstGeom>
          <a:solidFill>
            <a:srgbClr val="7EC8E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65836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FINAL YEAR PROJECT · VIVA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28800"/>
            <a:ext cx="786384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5000" b="1" i="0">
                <a:solidFill>
                  <a:srgbClr val="2F3B52"/>
                </a:solidFill>
                <a:latin typeface="Segoe UI"/>
              </a:rPr>
              <a:t>SCHOLAR METRIC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6B7690"/>
                </a:solidFill>
                <a:latin typeface="Segoe UI"/>
              </a:rPr>
              <a:t>Next-Generation AI-Powered Student Feedback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B7690"/>
                </a:solidFill>
                <a:latin typeface="Segoe UI"/>
              </a:rPr>
              <a:t>&amp; Faculty Evaluation 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657600"/>
            <a:ext cx="2743200" cy="64008"/>
          </a:xfrm>
          <a:prstGeom prst="rect">
            <a:avLst/>
          </a:prstGeom>
          <a:gradFill>
            <a:gsLst>
              <a:gs pos="0">
                <a:srgbClr val="7EC8E3"/>
              </a:gs>
              <a:gs pos="100000">
                <a:srgbClr val="B8A7E0"/>
              </a:gs>
            </a:gsLst>
            <a:lin ang="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4023360"/>
            <a:ext cx="7863840" cy="11003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50" b="1" i="0" dirty="0">
                <a:solidFill>
                  <a:srgbClr val="3D7EA6"/>
                </a:solidFill>
                <a:latin typeface="Segoe UI"/>
              </a:rPr>
              <a:t>STUDENT</a:t>
            </a:r>
            <a:r>
              <a:rPr sz="1350" b="0" i="0" dirty="0">
                <a:solidFill>
                  <a:srgbClr val="4A5670"/>
                </a:solidFill>
                <a:latin typeface="Segoe UI"/>
              </a:rPr>
              <a:t>    Muhammad Nouman  ·  BC220410458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50" b="1" i="0" dirty="0">
                <a:solidFill>
                  <a:srgbClr val="7C6BB5"/>
                </a:solidFill>
                <a:latin typeface="Segoe UI"/>
              </a:rPr>
              <a:t>SUPERVISOR</a:t>
            </a:r>
            <a:r>
              <a:rPr sz="1350" b="0" i="0" dirty="0">
                <a:solidFill>
                  <a:srgbClr val="4A5670"/>
                </a:solidFill>
                <a:latin typeface="Segoe UI"/>
              </a:rPr>
              <a:t>    Hafiz Wajahat Hashmi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50" b="1" i="0" dirty="0">
                <a:solidFill>
                  <a:srgbClr val="4E9C88"/>
                </a:solidFill>
                <a:latin typeface="Segoe UI"/>
              </a:rPr>
              <a:t>UNIVERSITY</a:t>
            </a:r>
            <a:r>
              <a:rPr sz="1350" b="0" i="0" dirty="0">
                <a:solidFill>
                  <a:srgbClr val="4A5670"/>
                </a:solidFill>
                <a:latin typeface="Segoe UI"/>
              </a:rPr>
              <a:t>    Virtual University of Pakistan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50" b="1" i="0" dirty="0">
                <a:solidFill>
                  <a:srgbClr val="A98B63"/>
                </a:solidFill>
                <a:latin typeface="Segoe UI"/>
              </a:rPr>
              <a:t>GROUP</a:t>
            </a:r>
            <a:r>
              <a:rPr sz="1350" b="0" i="0" dirty="0">
                <a:solidFill>
                  <a:srgbClr val="4A5670"/>
                </a:solidFill>
                <a:latin typeface="Segoe UI"/>
              </a:rPr>
              <a:t>    F25PROJECT56B6C</a:t>
            </a:r>
          </a:p>
        </p:txBody>
      </p:sp>
      <p:sp>
        <p:nvSpPr>
          <p:cNvPr id="12" name="Oval 11"/>
          <p:cNvSpPr/>
          <p:nvPr/>
        </p:nvSpPr>
        <p:spPr>
          <a:xfrm>
            <a:off x="8915400" y="2331720"/>
            <a:ext cx="2743200" cy="2743200"/>
          </a:xfrm>
          <a:prstGeom prst="ellipse">
            <a:avLst/>
          </a:prstGeom>
          <a:gradFill>
            <a:gsLst>
              <a:gs pos="0">
                <a:srgbClr val="7EC8E3"/>
              </a:gs>
              <a:gs pos="100000">
                <a:srgbClr val="B8A7E0"/>
              </a:gs>
            </a:gsLst>
            <a:lin ang="2700000" scaled="1"/>
          </a:gradFill>
          <a:ln w="12700">
            <a:solidFill>
              <a:srgbClr val="7C6B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915400" y="2331720"/>
            <a:ext cx="2743200" cy="2743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0" b="1" i="0">
                <a:solidFill>
                  <a:srgbClr val="FFFFFF"/>
                </a:solidFill>
                <a:latin typeface="Segoe UI"/>
              </a:rPr>
              <a:t>SM</a:t>
            </a:r>
          </a:p>
        </p:txBody>
      </p:sp>
      <p:sp>
        <p:nvSpPr>
          <p:cNvPr id="14" name="Oval 13"/>
          <p:cNvSpPr/>
          <p:nvPr/>
        </p:nvSpPr>
        <p:spPr>
          <a:xfrm>
            <a:off x="11155680" y="1554480"/>
            <a:ext cx="713232" cy="713232"/>
          </a:xfrm>
          <a:prstGeom prst="ellipse">
            <a:avLst/>
          </a:prstGeom>
          <a:solidFill>
            <a:srgbClr val="BFE0F0">
              <a:alpha val="100000"/>
            </a:srgbClr>
          </a:solidFill>
          <a:ln w="12700">
            <a:solidFill>
              <a:srgbClr val="7EC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155680" y="1554480"/>
            <a:ext cx="713232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D7EA6"/>
                </a:solidFill>
                <a:latin typeface="Segoe UI"/>
              </a:rPr>
              <a:t>🔒</a:t>
            </a:r>
          </a:p>
        </p:txBody>
      </p:sp>
      <p:sp>
        <p:nvSpPr>
          <p:cNvPr id="16" name="Oval 15"/>
          <p:cNvSpPr/>
          <p:nvPr/>
        </p:nvSpPr>
        <p:spPr>
          <a:xfrm>
            <a:off x="11338560" y="3931920"/>
            <a:ext cx="713232" cy="713232"/>
          </a:xfrm>
          <a:prstGeom prst="ellipse">
            <a:avLst/>
          </a:prstGeom>
          <a:solidFill>
            <a:srgbClr val="D9CEF2">
              <a:alpha val="100000"/>
            </a:srgbClr>
          </a:solidFill>
          <a:ln w="12700">
            <a:solidFill>
              <a:srgbClr val="B8A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338560" y="3931920"/>
            <a:ext cx="713232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7C6BB5"/>
                </a:solidFill>
                <a:latin typeface="Segoe UI"/>
              </a:rPr>
              <a:t>🤖</a:t>
            </a:r>
          </a:p>
        </p:txBody>
      </p:sp>
      <p:sp>
        <p:nvSpPr>
          <p:cNvPr id="18" name="Oval 17"/>
          <p:cNvSpPr/>
          <p:nvPr/>
        </p:nvSpPr>
        <p:spPr>
          <a:xfrm>
            <a:off x="10149840" y="5257800"/>
            <a:ext cx="658368" cy="658368"/>
          </a:xfrm>
          <a:prstGeom prst="ellipse">
            <a:avLst/>
          </a:prstGeom>
          <a:solidFill>
            <a:srgbClr val="C8ECDF">
              <a:alpha val="100000"/>
            </a:srgbClr>
          </a:solidFill>
          <a:ln w="12700">
            <a:solidFill>
              <a:srgbClr val="98D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149840" y="5257800"/>
            <a:ext cx="658368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E9C88"/>
                </a:solidFill>
                <a:latin typeface="Segoe UI"/>
              </a:rPr>
              <a:t>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73952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3B5"/>
                </a:solidFill>
                <a:latin typeface="Segoe UI"/>
              </a:rPr>
              <a:t>Virtual University of Pakistan · Department of Computer Science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FAF8F4"/>
              </a:gs>
              <a:gs pos="100000">
                <a:srgbClr val="F1EEF7"/>
              </a:gs>
            </a:gsLst>
            <a:lin ang="63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424160" y="-1645920"/>
            <a:ext cx="4206240" cy="4206240"/>
          </a:xfrm>
          <a:prstGeom prst="ellipse">
            <a:avLst/>
          </a:prstGeom>
          <a:solidFill>
            <a:srgbClr val="7EC8E3">
              <a:alpha val="55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645920" y="5394960"/>
            <a:ext cx="3840480" cy="3840480"/>
          </a:xfrm>
          <a:prstGeom prst="ellipse">
            <a:avLst/>
          </a:prstGeom>
          <a:solidFill>
            <a:srgbClr val="B8A7E0">
              <a:alpha val="55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778240" y="5303520"/>
            <a:ext cx="2926080" cy="2926080"/>
          </a:xfrm>
          <a:prstGeom prst="ellipse">
            <a:avLst/>
          </a:prstGeom>
          <a:solidFill>
            <a:srgbClr val="98D8C8">
              <a:alpha val="50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66928" y="502920"/>
            <a:ext cx="749808" cy="329184"/>
          </a:xfrm>
          <a:prstGeom prst="roundRect">
            <a:avLst>
              <a:gd name="adj" fmla="val 50000"/>
            </a:avLst>
          </a:prstGeom>
          <a:solidFill>
            <a:srgbClr val="B8A7E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502920"/>
            <a:ext cx="74980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1328" y="502920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C6BB5"/>
                </a:solidFill>
                <a:latin typeface="Segoe UI"/>
              </a:rPr>
              <a:t>PROJECT INTRODUCTION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93268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F3B52"/>
                </a:solidFill>
                <a:latin typeface="Segoe UI"/>
              </a:rPr>
              <a:t>Project Introduction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" y="1755648"/>
            <a:ext cx="2103120" cy="54864"/>
          </a:xfrm>
          <a:prstGeom prst="rect">
            <a:avLst/>
          </a:prstGeom>
          <a:gradFill>
            <a:gsLst>
              <a:gs pos="0">
                <a:srgbClr val="B8A7E0"/>
              </a:gs>
              <a:gs pos="100000">
                <a:srgbClr val="B8A7E0"/>
              </a:gs>
            </a:gsLst>
            <a:lin ang="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66928" y="2057400"/>
            <a:ext cx="3566160" cy="4114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7EC8E3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2057400"/>
            <a:ext cx="3566160" cy="109728"/>
          </a:xfrm>
          <a:prstGeom prst="rect">
            <a:avLst/>
          </a:prstGeom>
          <a:gradFill>
            <a:gsLst>
              <a:gs pos="0">
                <a:srgbClr val="7EC8E3"/>
              </a:gs>
              <a:gs pos="100000">
                <a:srgbClr val="BFE0F0"/>
              </a:gs>
            </a:gsLst>
            <a:lin ang="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2395728"/>
            <a:ext cx="3108960" cy="3611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1" i="0">
                <a:solidFill>
                  <a:srgbClr val="3D7EA6"/>
                </a:solidFill>
                <a:latin typeface="Segoe UI"/>
              </a:rPr>
              <a:t>🧭  </a:t>
            </a:r>
            <a:r>
              <a:rPr sz="1600" b="1" i="0">
                <a:solidFill>
                  <a:srgbClr val="2F3B52"/>
                </a:solidFill>
                <a:latin typeface="Segoe UI"/>
              </a:rPr>
              <a:t>System Overview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 i="0">
                <a:solidFill>
                  <a:srgbClr val="3D7EA6"/>
                </a:solidFill>
                <a:latin typeface="Segoe UI"/>
              </a:rPr>
              <a:t>•  </a:t>
            </a:r>
            <a:r>
              <a:rPr sz="1350" b="0" i="0">
                <a:solidFill>
                  <a:srgbClr val="4A5670"/>
                </a:solidFill>
                <a:latin typeface="Segoe UI"/>
              </a:rPr>
              <a:t>Web-based, multi-tenant platform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 i="0">
                <a:solidFill>
                  <a:srgbClr val="3D7EA6"/>
                </a:solidFill>
                <a:latin typeface="Segoe UI"/>
              </a:rPr>
              <a:t>•  </a:t>
            </a:r>
            <a:r>
              <a:rPr sz="1350" b="0" i="0">
                <a:solidFill>
                  <a:srgbClr val="4A5670"/>
                </a:solidFill>
                <a:latin typeface="Segoe UI"/>
              </a:rPr>
              <a:t>Digitizes the full evaluation lifecycle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 i="0">
                <a:solidFill>
                  <a:srgbClr val="3D7EA6"/>
                </a:solidFill>
                <a:latin typeface="Segoe UI"/>
              </a:rPr>
              <a:t>•  </a:t>
            </a:r>
            <a:r>
              <a:rPr sz="1350" b="0" i="0">
                <a:solidFill>
                  <a:srgbClr val="4A5670"/>
                </a:solidFill>
                <a:latin typeface="Segoe UI"/>
              </a:rPr>
              <a:t>AI-moderated anonymous feedback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 i="0">
                <a:solidFill>
                  <a:srgbClr val="3D7EA6"/>
                </a:solidFill>
                <a:latin typeface="Segoe UI"/>
              </a:rPr>
              <a:t>•  </a:t>
            </a:r>
            <a:r>
              <a:rPr sz="1350" b="0" i="0">
                <a:solidFill>
                  <a:srgbClr val="4A5670"/>
                </a:solidFill>
                <a:latin typeface="Segoe UI"/>
              </a:rPr>
              <a:t>Role-based portals for Admin, Faculty &amp; Students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2057400"/>
            <a:ext cx="3566160" cy="4114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B8A7E0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15968" y="2057400"/>
            <a:ext cx="3566160" cy="109728"/>
          </a:xfrm>
          <a:prstGeom prst="rect">
            <a:avLst/>
          </a:prstGeom>
          <a:gradFill>
            <a:gsLst>
              <a:gs pos="0">
                <a:srgbClr val="B8A7E0"/>
              </a:gs>
              <a:gs pos="100000">
                <a:srgbClr val="D9CEF2"/>
              </a:gs>
            </a:gsLst>
            <a:lin ang="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0" y="2395728"/>
            <a:ext cx="3108960" cy="3611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1" i="0">
                <a:solidFill>
                  <a:srgbClr val="7C6BB5"/>
                </a:solidFill>
                <a:latin typeface="Segoe UI"/>
              </a:rPr>
              <a:t>🎯  </a:t>
            </a:r>
            <a:r>
              <a:rPr sz="1600" b="1" i="0">
                <a:solidFill>
                  <a:srgbClr val="2F3B52"/>
                </a:solidFill>
                <a:latin typeface="Segoe UI"/>
              </a:rPr>
              <a:t>Objective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 i="0">
                <a:solidFill>
                  <a:srgbClr val="7C6BB5"/>
                </a:solidFill>
                <a:latin typeface="Segoe UI"/>
              </a:rPr>
              <a:t>•  </a:t>
            </a:r>
            <a:r>
              <a:rPr sz="1350" b="0" i="0">
                <a:solidFill>
                  <a:srgbClr val="4A5670"/>
                </a:solidFill>
                <a:latin typeface="Segoe UI"/>
              </a:rPr>
              <a:t>Automate the manual paper-based workflow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 i="0">
                <a:solidFill>
                  <a:srgbClr val="7C6BB5"/>
                </a:solidFill>
                <a:latin typeface="Segoe UI"/>
              </a:rPr>
              <a:t>•  </a:t>
            </a:r>
            <a:r>
              <a:rPr sz="1350" b="0" i="0">
                <a:solidFill>
                  <a:srgbClr val="4A5670"/>
                </a:solidFill>
                <a:latin typeface="Segoe UI"/>
              </a:rPr>
              <a:t>Guarantee 100% student anonymity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 i="0">
                <a:solidFill>
                  <a:srgbClr val="7C6BB5"/>
                </a:solidFill>
                <a:latin typeface="Segoe UI"/>
              </a:rPr>
              <a:t>•  </a:t>
            </a:r>
            <a:r>
              <a:rPr sz="1350" b="0" i="0">
                <a:solidFill>
                  <a:srgbClr val="4A5670"/>
                </a:solidFill>
                <a:latin typeface="Segoe UI"/>
              </a:rPr>
              <a:t>AI content moderation &amp; comment cleaning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 i="0">
                <a:solidFill>
                  <a:srgbClr val="7C6BB5"/>
                </a:solidFill>
                <a:latin typeface="Segoe UI"/>
              </a:rPr>
              <a:t>•  </a:t>
            </a:r>
            <a:r>
              <a:rPr sz="1350" b="0" i="0">
                <a:solidFill>
                  <a:srgbClr val="4A5670"/>
                </a:solidFill>
                <a:latin typeface="Segoe UI"/>
              </a:rPr>
              <a:t>Instant PDF / Excel report generation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5008" y="2057400"/>
            <a:ext cx="3566160" cy="4114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98D8C8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65008" y="2057400"/>
            <a:ext cx="3566160" cy="109728"/>
          </a:xfrm>
          <a:prstGeom prst="rect">
            <a:avLst/>
          </a:prstGeom>
          <a:gradFill>
            <a:gsLst>
              <a:gs pos="0">
                <a:srgbClr val="98D8C8"/>
              </a:gs>
              <a:gs pos="100000">
                <a:srgbClr val="C8ECDF"/>
              </a:gs>
            </a:gsLst>
            <a:lin ang="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1040" y="2395728"/>
            <a:ext cx="3108960" cy="3611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1" i="0">
                <a:solidFill>
                  <a:srgbClr val="4E9C88"/>
                </a:solidFill>
                <a:latin typeface="Segoe UI"/>
              </a:rPr>
              <a:t>👥  </a:t>
            </a:r>
            <a:r>
              <a:rPr sz="1600" b="1" i="0">
                <a:solidFill>
                  <a:srgbClr val="2F3B52"/>
                </a:solidFill>
                <a:latin typeface="Segoe UI"/>
              </a:rPr>
              <a:t>Purpose &amp; Users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 i="0">
                <a:solidFill>
                  <a:srgbClr val="4E9C88"/>
                </a:solidFill>
                <a:latin typeface="Segoe UI"/>
              </a:rPr>
              <a:t>•  </a:t>
            </a:r>
            <a:r>
              <a:rPr sz="1350" b="1" i="0">
                <a:solidFill>
                  <a:srgbClr val="2F3B52"/>
                </a:solidFill>
                <a:latin typeface="Segoe UI"/>
              </a:rPr>
              <a:t>Students</a:t>
            </a:r>
            <a:r>
              <a:rPr sz="1350" b="0" i="0">
                <a:solidFill>
                  <a:srgbClr val="6B7690"/>
                </a:solidFill>
                <a:latin typeface="Segoe UI"/>
              </a:rPr>
              <a:t> — submit anonymous feedback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 i="0">
                <a:solidFill>
                  <a:srgbClr val="4E9C88"/>
                </a:solidFill>
                <a:latin typeface="Segoe UI"/>
              </a:rPr>
              <a:t>•  </a:t>
            </a:r>
            <a:r>
              <a:rPr sz="1350" b="1" i="0">
                <a:solidFill>
                  <a:srgbClr val="2F3B52"/>
                </a:solidFill>
                <a:latin typeface="Segoe UI"/>
              </a:rPr>
              <a:t>Faculty</a:t>
            </a:r>
            <a:r>
              <a:rPr sz="1350" b="0" i="0">
                <a:solidFill>
                  <a:srgbClr val="6B7690"/>
                </a:solidFill>
                <a:latin typeface="Segoe UI"/>
              </a:rPr>
              <a:t> — view feedback &amp; analytics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 i="0">
                <a:solidFill>
                  <a:srgbClr val="4E9C88"/>
                </a:solidFill>
                <a:latin typeface="Segoe UI"/>
              </a:rPr>
              <a:t>•  </a:t>
            </a:r>
            <a:r>
              <a:rPr sz="1350" b="1" i="0">
                <a:solidFill>
                  <a:srgbClr val="2F3B52"/>
                </a:solidFill>
                <a:latin typeface="Segoe UI"/>
              </a:rPr>
              <a:t>Admin</a:t>
            </a:r>
            <a:r>
              <a:rPr sz="1350" b="0" i="0">
                <a:solidFill>
                  <a:srgbClr val="6B7690"/>
                </a:solidFill>
                <a:latin typeface="Segoe UI"/>
              </a:rPr>
              <a:t> — manage evaluations &amp; reports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3B5"/>
                </a:solidFill>
                <a:latin typeface="Segoe UI"/>
              </a:rPr>
              <a:t>SCHOLAR METRIC  ·  FINAL VIVA PRESENTATION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6473952"/>
            <a:ext cx="374903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3B5"/>
                </a:solidFill>
                <a:latin typeface="Segoe UI"/>
              </a:rPr>
              <a:t>Group F25PROJECT56B6C   ·   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FAF8F4"/>
              </a:gs>
              <a:gs pos="100000">
                <a:srgbClr val="F1EEF7"/>
              </a:gs>
            </a:gsLst>
            <a:lin ang="63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424160" y="-1645920"/>
            <a:ext cx="4206240" cy="4206240"/>
          </a:xfrm>
          <a:prstGeom prst="ellipse">
            <a:avLst/>
          </a:prstGeom>
          <a:solidFill>
            <a:srgbClr val="7EC8E3">
              <a:alpha val="55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645920" y="5394960"/>
            <a:ext cx="3840480" cy="3840480"/>
          </a:xfrm>
          <a:prstGeom prst="ellipse">
            <a:avLst/>
          </a:prstGeom>
          <a:solidFill>
            <a:srgbClr val="B8A7E0">
              <a:alpha val="55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778240" y="5303520"/>
            <a:ext cx="2926080" cy="2926080"/>
          </a:xfrm>
          <a:prstGeom prst="ellipse">
            <a:avLst/>
          </a:prstGeom>
          <a:solidFill>
            <a:srgbClr val="98D8C8">
              <a:alpha val="50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66928" y="502920"/>
            <a:ext cx="749808" cy="329184"/>
          </a:xfrm>
          <a:prstGeom prst="roundRect">
            <a:avLst>
              <a:gd name="adj" fmla="val 50000"/>
            </a:avLst>
          </a:prstGeom>
          <a:solidFill>
            <a:srgbClr val="98D8C8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502920"/>
            <a:ext cx="74980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1328" y="502920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4E9C88"/>
                </a:solidFill>
                <a:latin typeface="Segoe UI"/>
              </a:rPr>
              <a:t>GROUP INTRODUCTION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93268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F3B52"/>
                </a:solidFill>
                <a:latin typeface="Segoe UI"/>
              </a:rPr>
              <a:t>Group Introduction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" y="1755648"/>
            <a:ext cx="2103120" cy="54864"/>
          </a:xfrm>
          <a:prstGeom prst="rect">
            <a:avLst/>
          </a:prstGeom>
          <a:gradFill>
            <a:gsLst>
              <a:gs pos="0">
                <a:srgbClr val="98D8C8"/>
              </a:gs>
              <a:gs pos="100000">
                <a:srgbClr val="B8A7E0"/>
              </a:gs>
            </a:gsLst>
            <a:lin ang="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66928" y="2057400"/>
            <a:ext cx="11055096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7EC8E3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96112" y="2286000"/>
            <a:ext cx="914400" cy="914400"/>
          </a:xfrm>
          <a:prstGeom prst="ellipse">
            <a:avLst/>
          </a:prstGeom>
          <a:gradFill>
            <a:gsLst>
              <a:gs pos="0">
                <a:srgbClr val="7EC8E3"/>
              </a:gs>
              <a:gs pos="100000">
                <a:srgbClr val="B8A7E0"/>
              </a:gs>
            </a:gsLst>
            <a:lin ang="27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96112" y="228600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Segoe UI"/>
              </a:rPr>
              <a:t>MN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228600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000" b="1" i="0">
                <a:solidFill>
                  <a:srgbClr val="2F3B52"/>
                </a:solidFill>
                <a:latin typeface="Segoe UI"/>
              </a:rPr>
              <a:t>Muhammad Nouman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690"/>
                </a:solidFill>
                <a:latin typeface="Segoe UI"/>
              </a:rPr>
              <a:t>Roll No: BC220410458   ·   Group ID: F25PROJECT56B6C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A3B5"/>
                </a:solidFill>
                <a:latin typeface="Segoe UI"/>
              </a:rPr>
              <a:t>Solo Developer — Full-Stack Design, Development &amp; Testing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40480"/>
            <a:ext cx="2624328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7EC8E3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9808" y="4005072"/>
            <a:ext cx="2258568" cy="1545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3D7EA6"/>
                </a:solidFill>
                <a:latin typeface="Segoe UI"/>
              </a:rPr>
              <a:t>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F3B52"/>
                </a:solidFill>
                <a:latin typeface="Segoe UI"/>
              </a:rPr>
              <a:t>System Architecture</a:t>
            </a:r>
            <a:r>
              <a:rPr sz="1400" b="0" i="0">
                <a:solidFill>
                  <a:srgbClr val="3D7EA6"/>
                </a:solidFill>
                <a:latin typeface="Segoe UI"/>
              </a:rPr>
              <a:t> &amp; Laravel Core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690"/>
                </a:solidFill>
                <a:latin typeface="Segoe UI"/>
              </a:rPr>
              <a:t>Multi-tenant design · RBAC · migrations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74136" y="3840480"/>
            <a:ext cx="2624328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B8A7E0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557016" y="4005072"/>
            <a:ext cx="2258568" cy="1545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7C6BB5"/>
                </a:solidFill>
                <a:latin typeface="Segoe UI"/>
              </a:rPr>
              <a:t>🤖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F3B52"/>
                </a:solidFill>
                <a:latin typeface="Segoe UI"/>
              </a:rPr>
              <a:t>AI Moderation</a:t>
            </a:r>
            <a:r>
              <a:rPr sz="1400" b="0" i="0">
                <a:solidFill>
                  <a:srgbClr val="7C6BB5"/>
                </a:solidFill>
                <a:latin typeface="Segoe UI"/>
              </a:rPr>
              <a:t> &amp; Security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690"/>
                </a:solidFill>
                <a:latin typeface="Segoe UI"/>
              </a:rPr>
              <a:t>Toxicity engine · token cryptography · Sanctum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1344" y="3840480"/>
            <a:ext cx="2624328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98D8C8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64224" y="4005072"/>
            <a:ext cx="2258568" cy="1545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4E9C88"/>
                </a:solidFill>
                <a:latin typeface="Segoe UI"/>
              </a:rPr>
              <a:t>🎨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F3B52"/>
                </a:solidFill>
                <a:latin typeface="Segoe UI"/>
              </a:rPr>
              <a:t>Frontend</a:t>
            </a:r>
            <a:r>
              <a:rPr sz="1400" b="0" i="0">
                <a:solidFill>
                  <a:srgbClr val="4E9C88"/>
                </a:solidFill>
                <a:latin typeface="Segoe UI"/>
              </a:rPr>
              <a:t> &amp; UX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690"/>
                </a:solidFill>
                <a:latin typeface="Segoe UI"/>
              </a:rPr>
              <a:t>Blade + Tailwind UI · responsive dashboards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88552" y="3840480"/>
            <a:ext cx="2624328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8D9C4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71432" y="4005072"/>
            <a:ext cx="2258568" cy="1545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A98B63"/>
                </a:solidFill>
                <a:latin typeface="Segoe UI"/>
              </a:rPr>
              <a:t>🧪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F3B52"/>
                </a:solidFill>
                <a:latin typeface="Segoe UI"/>
              </a:rPr>
              <a:t>QA</a:t>
            </a:r>
            <a:r>
              <a:rPr sz="1400" b="0" i="0">
                <a:solidFill>
                  <a:srgbClr val="A98B63"/>
                </a:solidFill>
                <a:latin typeface="Segoe UI"/>
              </a:rPr>
              <a:t> &amp; Reporting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690"/>
                </a:solidFill>
                <a:latin typeface="Segoe UI"/>
              </a:rPr>
              <a:t>Pest test suite · PDF / Excel exports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897880"/>
            <a:ext cx="11055096" cy="457200"/>
          </a:xfrm>
          <a:prstGeom prst="roundRect">
            <a:avLst>
              <a:gd name="adj" fmla="val 50000"/>
            </a:avLst>
          </a:prstGeom>
          <a:solidFill>
            <a:srgbClr val="F1E4D2"/>
          </a:solidFill>
          <a:ln w="12700">
            <a:solidFill>
              <a:srgbClr val="E8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66928" y="5897880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A98B63"/>
                </a:solidFill>
                <a:latin typeface="Segoe UI"/>
              </a:rPr>
              <a:t>CONTRIBUTION  —  </a:t>
            </a:r>
            <a:r>
              <a:rPr sz="1150" b="0" i="0">
                <a:solidFill>
                  <a:srgbClr val="4A5670"/>
                </a:solidFill>
                <a:latin typeface="Segoe UI"/>
              </a:rPr>
              <a:t>Designed, built, tested and documented the complete system end-to-end.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3B5"/>
                </a:solidFill>
                <a:latin typeface="Segoe UI"/>
              </a:rPr>
              <a:t>SCHOLAR METRIC  ·  FINAL VIVA PRESENTATION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6473952"/>
            <a:ext cx="374903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3B5"/>
                </a:solidFill>
                <a:latin typeface="Segoe UI"/>
              </a:rPr>
              <a:t>Group F25PROJECT56B6C   ·   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FAF8F4"/>
              </a:gs>
              <a:gs pos="100000">
                <a:srgbClr val="F1EEF7"/>
              </a:gs>
            </a:gsLst>
            <a:lin ang="63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424160" y="-1645920"/>
            <a:ext cx="4206240" cy="4206240"/>
          </a:xfrm>
          <a:prstGeom prst="ellipse">
            <a:avLst/>
          </a:prstGeom>
          <a:solidFill>
            <a:srgbClr val="7EC8E3">
              <a:alpha val="55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645920" y="5394960"/>
            <a:ext cx="3840480" cy="3840480"/>
          </a:xfrm>
          <a:prstGeom prst="ellipse">
            <a:avLst/>
          </a:prstGeom>
          <a:solidFill>
            <a:srgbClr val="B8A7E0">
              <a:alpha val="55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778240" y="5303520"/>
            <a:ext cx="2926080" cy="2926080"/>
          </a:xfrm>
          <a:prstGeom prst="ellipse">
            <a:avLst/>
          </a:prstGeom>
          <a:solidFill>
            <a:srgbClr val="98D8C8">
              <a:alpha val="50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66928" y="502920"/>
            <a:ext cx="749808" cy="329184"/>
          </a:xfrm>
          <a:prstGeom prst="roundRect">
            <a:avLst>
              <a:gd name="adj" fmla="val 50000"/>
            </a:avLst>
          </a:prstGeom>
          <a:solidFill>
            <a:srgbClr val="E8D9C4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502920"/>
            <a:ext cx="74980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1328" y="502920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A98B63"/>
                </a:solidFill>
                <a:latin typeface="Segoe UI"/>
              </a:rPr>
              <a:t>BACKGROUND OF 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93268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2F3B52"/>
                </a:solidFill>
                <a:latin typeface="Segoe UI"/>
              </a:rPr>
              <a:t>Background of the Problem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" y="1755648"/>
            <a:ext cx="2103120" cy="54864"/>
          </a:xfrm>
          <a:prstGeom prst="rect">
            <a:avLst/>
          </a:prstGeom>
          <a:gradFill>
            <a:gsLst>
              <a:gs pos="0">
                <a:srgbClr val="E8D9C4"/>
              </a:gs>
              <a:gs pos="100000">
                <a:srgbClr val="B8A7E0"/>
              </a:gs>
            </a:gsLst>
            <a:lin ang="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66928" y="2057400"/>
            <a:ext cx="6675120" cy="74980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7EC8E3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777240" y="2176272"/>
            <a:ext cx="512064" cy="512064"/>
          </a:xfrm>
          <a:prstGeom prst="ellipse">
            <a:avLst/>
          </a:prstGeom>
          <a:solidFill>
            <a:srgbClr val="7EC8E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2176272"/>
            <a:ext cx="512064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057400"/>
            <a:ext cx="557784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F3B52"/>
                </a:solidFill>
                <a:latin typeface="Segoe UI"/>
              </a:rPr>
              <a:t>Manual &amp; Paper-Based Process  —  </a:t>
            </a:r>
            <a:r>
              <a:rPr sz="1250" b="0" i="0">
                <a:solidFill>
                  <a:srgbClr val="6B7690"/>
                </a:solidFill>
                <a:latin typeface="Segoe UI"/>
              </a:rPr>
              <a:t>Printed forms, high cost, slow collection &amp; errors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953512"/>
            <a:ext cx="6675120" cy="74980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B8A7E0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777240" y="3072384"/>
            <a:ext cx="512064" cy="512064"/>
          </a:xfrm>
          <a:prstGeom prst="ellipse">
            <a:avLst/>
          </a:prstGeom>
          <a:solidFill>
            <a:srgbClr val="B8A7E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3072384"/>
            <a:ext cx="512064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953512"/>
            <a:ext cx="557784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F3B52"/>
                </a:solidFill>
                <a:latin typeface="Segoe UI"/>
              </a:rPr>
              <a:t>Fear of Non-Anonymity  —  </a:t>
            </a:r>
            <a:r>
              <a:rPr sz="1250" b="0" i="0">
                <a:solidFill>
                  <a:srgbClr val="6B7690"/>
                </a:solidFill>
                <a:latin typeface="Segoe UI"/>
              </a:rPr>
              <a:t>Students withhold honest reviews, fearing retaliation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49624"/>
            <a:ext cx="6675120" cy="74980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98D8C8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777240" y="3968496"/>
            <a:ext cx="512064" cy="512064"/>
          </a:xfrm>
          <a:prstGeom prst="ellipse">
            <a:avLst/>
          </a:prstGeom>
          <a:solidFill>
            <a:srgbClr val="98D8C8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3968496"/>
            <a:ext cx="512064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3849624"/>
            <a:ext cx="557784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F3B52"/>
                </a:solidFill>
                <a:latin typeface="Segoe UI"/>
              </a:rPr>
              <a:t>Unfiltered &amp; Toxic Remarks  —  </a:t>
            </a:r>
            <a:r>
              <a:rPr sz="1250" b="0" i="0">
                <a:solidFill>
                  <a:srgbClr val="6B7690"/>
                </a:solidFill>
                <a:latin typeface="Segoe UI"/>
              </a:rPr>
              <a:t>Abusive comments undermine fairness and morale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45736"/>
            <a:ext cx="6675120" cy="74980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8D9C4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777240" y="4864607"/>
            <a:ext cx="512064" cy="512064"/>
          </a:xfrm>
          <a:prstGeom prst="ellipse">
            <a:avLst/>
          </a:prstGeom>
          <a:solidFill>
            <a:srgbClr val="E8D9C4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4864607"/>
            <a:ext cx="512064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81328" y="4745736"/>
            <a:ext cx="557784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F3B52"/>
                </a:solidFill>
                <a:latin typeface="Segoe UI"/>
              </a:rPr>
              <a:t>No Actionable Analytics  —  </a:t>
            </a:r>
            <a:r>
              <a:rPr sz="1250" b="0" i="0">
                <a:solidFill>
                  <a:srgbClr val="6B7690"/>
                </a:solidFill>
                <a:latin typeface="Segoe UI"/>
              </a:rPr>
              <a:t>Paper tallies give averages, not meaningful insight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641848"/>
            <a:ext cx="6675120" cy="74980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7EC8E3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777240" y="5760720"/>
            <a:ext cx="512064" cy="512064"/>
          </a:xfrm>
          <a:prstGeom prst="ellipse">
            <a:avLst/>
          </a:prstGeom>
          <a:solidFill>
            <a:srgbClr val="7EC8E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7240" y="5760720"/>
            <a:ext cx="512064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5641848"/>
            <a:ext cx="557784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F3B52"/>
                </a:solidFill>
                <a:latin typeface="Segoe UI"/>
              </a:rPr>
              <a:t>Manual Coordination  —  </a:t>
            </a:r>
            <a:r>
              <a:rPr sz="1250" b="0" i="0">
                <a:solidFill>
                  <a:srgbClr val="6B7690"/>
                </a:solidFill>
                <a:latin typeface="Segoe UI"/>
              </a:rPr>
              <a:t>Reminders &amp; result compilation consume staff hours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52360" y="2057400"/>
            <a:ext cx="3813048" cy="4279392"/>
          </a:xfrm>
          <a:prstGeom prst="roundRect">
            <a:avLst>
              <a:gd name="adj" fmla="val 7000"/>
            </a:avLst>
          </a:prstGeom>
          <a:solidFill>
            <a:srgbClr val="D9CEF2"/>
          </a:solidFill>
          <a:ln w="12700">
            <a:solidFill>
              <a:srgbClr val="B8A7E0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08392" y="2331720"/>
            <a:ext cx="3300984" cy="3730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7C6BB5"/>
                </a:solidFill>
                <a:latin typeface="Segoe UI"/>
              </a:rPr>
              <a:t>⭐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7C6BB5"/>
                </a:solidFill>
                <a:latin typeface="Segoe UI"/>
              </a:rPr>
              <a:t>WHY IT MATTERS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7C6BB5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4A5670"/>
                </a:solidFill>
                <a:latin typeface="Segoe UI"/>
              </a:rPr>
              <a:t>Universities need a scalable, trustworthy, data-driven evaluation system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7C6BB5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4A5670"/>
                </a:solidFill>
                <a:latin typeface="Segoe UI"/>
              </a:rPr>
              <a:t>Stakeholders need safe, honest and real-time feedback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7C6BB5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4A5670"/>
                </a:solidFill>
                <a:latin typeface="Segoe UI"/>
              </a:rPr>
              <a:t>Academic quality improvement depends on actionable insight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3B5"/>
                </a:solidFill>
                <a:latin typeface="Segoe UI"/>
              </a:rPr>
              <a:t>SCHOLAR METRIC  ·  FINAL VIVA PRESENTATION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0" y="6473952"/>
            <a:ext cx="374903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3B5"/>
                </a:solidFill>
                <a:latin typeface="Segoe UI"/>
              </a:rPr>
              <a:t>Group F25PROJECT56B6C   ·   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FAF8F4"/>
              </a:gs>
              <a:gs pos="100000">
                <a:srgbClr val="F1EEF7"/>
              </a:gs>
            </a:gsLst>
            <a:lin ang="63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424160" y="-1645920"/>
            <a:ext cx="4206240" cy="4206240"/>
          </a:xfrm>
          <a:prstGeom prst="ellipse">
            <a:avLst/>
          </a:prstGeom>
          <a:solidFill>
            <a:srgbClr val="7EC8E3">
              <a:alpha val="55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645920" y="5394960"/>
            <a:ext cx="3840480" cy="3840480"/>
          </a:xfrm>
          <a:prstGeom prst="ellipse">
            <a:avLst/>
          </a:prstGeom>
          <a:solidFill>
            <a:srgbClr val="B8A7E0">
              <a:alpha val="55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778240" y="5303520"/>
            <a:ext cx="2926080" cy="2926080"/>
          </a:xfrm>
          <a:prstGeom prst="ellipse">
            <a:avLst/>
          </a:prstGeom>
          <a:solidFill>
            <a:srgbClr val="98D8C8">
              <a:alpha val="50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66928" y="502920"/>
            <a:ext cx="749808" cy="329184"/>
          </a:xfrm>
          <a:prstGeom prst="roundRect">
            <a:avLst>
              <a:gd name="adj" fmla="val 50000"/>
            </a:avLst>
          </a:prstGeom>
          <a:solidFill>
            <a:srgbClr val="7EC8E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502920"/>
            <a:ext cx="74980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1328" y="502920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3D7EA6"/>
                </a:solidFill>
                <a:latin typeface="Segoe UI"/>
              </a:rPr>
              <a:t>SOLUTION OF 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93268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2F3B52"/>
                </a:solidFill>
                <a:latin typeface="Segoe UI"/>
              </a:rPr>
              <a:t>Solution of the Problem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" y="1755648"/>
            <a:ext cx="2103120" cy="54864"/>
          </a:xfrm>
          <a:prstGeom prst="rect">
            <a:avLst/>
          </a:prstGeom>
          <a:gradFill>
            <a:gsLst>
              <a:gs pos="0">
                <a:srgbClr val="7EC8E3"/>
              </a:gs>
              <a:gs pos="100000">
                <a:srgbClr val="B8A7E0"/>
              </a:gs>
            </a:gsLst>
            <a:lin ang="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66928" y="2057400"/>
            <a:ext cx="544068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7EC8E3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2057400"/>
            <a:ext cx="5440680" cy="91440"/>
          </a:xfrm>
          <a:prstGeom prst="rect">
            <a:avLst/>
          </a:prstGeom>
          <a:gradFill>
            <a:gsLst>
              <a:gs pos="0">
                <a:srgbClr val="7EC8E3"/>
              </a:gs>
              <a:gs pos="100000">
                <a:srgbClr val="BFE0F0"/>
              </a:gs>
            </a:gsLst>
            <a:lin ang="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" y="2240280"/>
            <a:ext cx="49834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3D7EA6"/>
                </a:solidFill>
                <a:latin typeface="Segoe UI"/>
              </a:rPr>
              <a:t>🔒  </a:t>
            </a:r>
            <a:r>
              <a:rPr sz="1500" b="1" i="0">
                <a:solidFill>
                  <a:srgbClr val="2F3B52"/>
                </a:solidFill>
                <a:latin typeface="Segoe UI"/>
              </a:rPr>
              <a:t>Tokenized Single-Use Anonymity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7690"/>
                </a:solidFill>
                <a:latin typeface="Segoe UI"/>
              </a:rPr>
              <a:t>Cryptographic feedback_tokens prove eligibility — no student identity is ever linked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2057400"/>
            <a:ext cx="544068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B8A7E0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81344" y="2057400"/>
            <a:ext cx="5440680" cy="91440"/>
          </a:xfrm>
          <a:prstGeom prst="rect">
            <a:avLst/>
          </a:prstGeom>
          <a:gradFill>
            <a:gsLst>
              <a:gs pos="0">
                <a:srgbClr val="B8A7E0"/>
              </a:gs>
              <a:gs pos="100000">
                <a:srgbClr val="D9CEF2"/>
              </a:gs>
            </a:gsLst>
            <a:lin ang="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19088" y="2240280"/>
            <a:ext cx="49834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7C6BB5"/>
                </a:solidFill>
                <a:latin typeface="Segoe UI"/>
              </a:rPr>
              <a:t>🤖  </a:t>
            </a:r>
            <a:r>
              <a:rPr sz="1500" b="1" i="0">
                <a:solidFill>
                  <a:srgbClr val="2F3B52"/>
                </a:solidFill>
                <a:latin typeface="Segoe UI"/>
              </a:rPr>
              <a:t>AI Moderation &amp; Toxicity Scoring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7690"/>
                </a:solidFill>
                <a:latin typeface="Segoe UI"/>
              </a:rPr>
              <a:t>Real-time toxicity scoring, profanity cleaning and a flagged review queue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023360"/>
            <a:ext cx="544068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98D8C8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66928" y="4023360"/>
            <a:ext cx="5440680" cy="91440"/>
          </a:xfrm>
          <a:prstGeom prst="rect">
            <a:avLst/>
          </a:prstGeom>
          <a:gradFill>
            <a:gsLst>
              <a:gs pos="0">
                <a:srgbClr val="98D8C8"/>
              </a:gs>
              <a:gs pos="100000">
                <a:srgbClr val="C8ECDF"/>
              </a:gs>
            </a:gsLst>
            <a:lin ang="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2" y="4206240"/>
            <a:ext cx="49834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4E9C88"/>
                </a:solidFill>
                <a:latin typeface="Segoe UI"/>
              </a:rPr>
              <a:t>⚡  </a:t>
            </a:r>
            <a:r>
              <a:rPr sz="1500" b="1" i="0">
                <a:solidFill>
                  <a:srgbClr val="2F3B52"/>
                </a:solidFill>
                <a:latin typeface="Segoe UI"/>
              </a:rPr>
              <a:t>3-Step Automated Evaluation Builder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7690"/>
                </a:solidFill>
                <a:latin typeface="Segoe UI"/>
              </a:rPr>
              <a:t>Configure metadata → assign faculty &amp; courses → one-click publish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1344" y="4023360"/>
            <a:ext cx="544068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8D9C4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181344" y="4023360"/>
            <a:ext cx="5440680" cy="91440"/>
          </a:xfrm>
          <a:prstGeom prst="rect">
            <a:avLst/>
          </a:prstGeom>
          <a:gradFill>
            <a:gsLst>
              <a:gs pos="0">
                <a:srgbClr val="E8D9C4"/>
              </a:gs>
              <a:gs pos="100000">
                <a:srgbClr val="F1E4D2"/>
              </a:gs>
            </a:gsLst>
            <a:lin ang="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19088" y="4206240"/>
            <a:ext cx="49834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A98B63"/>
                </a:solidFill>
                <a:latin typeface="Segoe UI"/>
              </a:rPr>
              <a:t>📈  </a:t>
            </a:r>
            <a:r>
              <a:rPr sz="1500" b="1" i="0">
                <a:solidFill>
                  <a:srgbClr val="2F3B52"/>
                </a:solidFill>
                <a:latin typeface="Segoe UI"/>
              </a:rPr>
              <a:t>Role-Tailored Dashboards &amp; Reports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7690"/>
                </a:solidFill>
                <a:latin typeface="Segoe UI"/>
              </a:rPr>
              <a:t>Clean student forms, faculty analytics and admin reports with export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6035040"/>
            <a:ext cx="11055096" cy="566928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7EC8E3"/>
              </a:gs>
              <a:gs pos="100000">
                <a:srgbClr val="B8A7E0"/>
              </a:gs>
            </a:gsLst>
            <a:lin ang="27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66928" y="6035040"/>
            <a:ext cx="11055096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BENEFITS</a:t>
            </a:r>
            <a:r>
              <a:rPr sz="1300" b="0" i="0">
                <a:solidFill>
                  <a:srgbClr val="FFFFFF"/>
                </a:solidFill>
                <a:latin typeface="Segoe UI"/>
              </a:rPr>
              <a:t>    Saves cost &amp; time  ·  Honest feedback  ·  Safe comments  ·  Data-driven decisions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3B5"/>
                </a:solidFill>
                <a:latin typeface="Segoe UI"/>
              </a:rPr>
              <a:t>SCHOLAR METRIC  ·  FINAL VIVA PRESENTATION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6473952"/>
            <a:ext cx="374903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3B5"/>
                </a:solidFill>
                <a:latin typeface="Segoe UI"/>
              </a:rPr>
              <a:t>Group F25PROJECT56B6C   ·   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FAF8F4"/>
              </a:gs>
              <a:gs pos="100000">
                <a:srgbClr val="F1EEF7"/>
              </a:gs>
            </a:gsLst>
            <a:lin ang="63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424160" y="-1645920"/>
            <a:ext cx="4206240" cy="4206240"/>
          </a:xfrm>
          <a:prstGeom prst="ellipse">
            <a:avLst/>
          </a:prstGeom>
          <a:solidFill>
            <a:srgbClr val="7EC8E3">
              <a:alpha val="55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645920" y="5394960"/>
            <a:ext cx="3840480" cy="3840480"/>
          </a:xfrm>
          <a:prstGeom prst="ellipse">
            <a:avLst/>
          </a:prstGeom>
          <a:solidFill>
            <a:srgbClr val="B8A7E0">
              <a:alpha val="55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778240" y="5303520"/>
            <a:ext cx="2926080" cy="2926080"/>
          </a:xfrm>
          <a:prstGeom prst="ellipse">
            <a:avLst/>
          </a:prstGeom>
          <a:solidFill>
            <a:srgbClr val="98D8C8">
              <a:alpha val="50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66928" y="502920"/>
            <a:ext cx="749808" cy="329184"/>
          </a:xfrm>
          <a:prstGeom prst="roundRect">
            <a:avLst>
              <a:gd name="adj" fmla="val 50000"/>
            </a:avLst>
          </a:prstGeom>
          <a:solidFill>
            <a:srgbClr val="B8A7E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502920"/>
            <a:ext cx="74980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1328" y="502920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C6BB5"/>
                </a:solidFill>
                <a:latin typeface="Segoe UI"/>
              </a:rPr>
              <a:t>DATABASE DIAGRAM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93268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F3B52"/>
                </a:solidFill>
                <a:latin typeface="Segoe UI"/>
              </a:rPr>
              <a:t>Database Diagram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" y="1755648"/>
            <a:ext cx="2103120" cy="54864"/>
          </a:xfrm>
          <a:prstGeom prst="rect">
            <a:avLst/>
          </a:prstGeom>
          <a:gradFill>
            <a:gsLst>
              <a:gs pos="0">
                <a:srgbClr val="B8A7E0"/>
              </a:gs>
              <a:gs pos="100000">
                <a:srgbClr val="B8A7E0"/>
              </a:gs>
            </a:gsLst>
            <a:lin ang="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40080" y="2103120"/>
            <a:ext cx="192024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7EC8E3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2103120"/>
            <a:ext cx="1920240" cy="82296"/>
          </a:xfrm>
          <a:prstGeom prst="rect">
            <a:avLst/>
          </a:prstGeom>
          <a:solidFill>
            <a:srgbClr val="7EC8E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19" y="2221991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3B52"/>
                </a:solidFill>
                <a:latin typeface="Segoe UI"/>
              </a:rPr>
              <a:t>universities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2606039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690"/>
                </a:solidFill>
                <a:latin typeface="Segoe UI"/>
              </a:rPr>
              <a:t>id · name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08960" y="2103120"/>
            <a:ext cx="192024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98D8C8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108960" y="2103120"/>
            <a:ext cx="1920240" cy="82296"/>
          </a:xfrm>
          <a:prstGeom prst="rect">
            <a:avLst/>
          </a:prstGeom>
          <a:solidFill>
            <a:srgbClr val="98D8C8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00400" y="2221991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3B52"/>
                </a:solidFill>
                <a:latin typeface="Segoe UI"/>
              </a:rPr>
              <a:t>departments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2606039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690"/>
                </a:solidFill>
                <a:latin typeface="Segoe UI"/>
              </a:rPr>
              <a:t>id · university_id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2103120"/>
            <a:ext cx="192024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8D9C4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577840" y="2103120"/>
            <a:ext cx="1920240" cy="82296"/>
          </a:xfrm>
          <a:prstGeom prst="rect">
            <a:avLst/>
          </a:prstGeom>
          <a:solidFill>
            <a:srgbClr val="E8D9C4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69279" y="2221991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3B52"/>
                </a:solidFill>
                <a:latin typeface="Segoe UI"/>
              </a:rPr>
              <a:t>courses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79" y="2606039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690"/>
                </a:solidFill>
                <a:latin typeface="Segoe UI"/>
              </a:rPr>
              <a:t>id · department_id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0" y="2103120"/>
            <a:ext cx="192024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8A7E0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046720" y="2103120"/>
            <a:ext cx="1920240" cy="82296"/>
          </a:xfrm>
          <a:prstGeom prst="rect">
            <a:avLst/>
          </a:prstGeom>
          <a:solidFill>
            <a:srgbClr val="B8A7E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38160" y="2221991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3B52"/>
                </a:solidFill>
                <a:latin typeface="Segoe UI"/>
              </a:rPr>
              <a:t>users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2606039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690"/>
                </a:solidFill>
                <a:latin typeface="Segoe UI"/>
              </a:rPr>
              <a:t>id · role · university_id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114800"/>
            <a:ext cx="192024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98D8C8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0080" y="4114800"/>
            <a:ext cx="1920240" cy="82296"/>
          </a:xfrm>
          <a:prstGeom prst="rect">
            <a:avLst/>
          </a:prstGeom>
          <a:solidFill>
            <a:srgbClr val="98D8C8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31519" y="4233672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3B52"/>
                </a:solidFill>
                <a:latin typeface="Segoe UI"/>
              </a:rPr>
              <a:t>evaluations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19" y="4617720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690"/>
                </a:solidFill>
                <a:latin typeface="Segoe UI"/>
              </a:rPr>
              <a:t>id · created_by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08960" y="4114800"/>
            <a:ext cx="192024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7EC8E3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108960" y="4114800"/>
            <a:ext cx="1920240" cy="82296"/>
          </a:xfrm>
          <a:prstGeom prst="rect">
            <a:avLst/>
          </a:prstGeom>
          <a:solidFill>
            <a:srgbClr val="7EC8E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200400" y="4233672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3B52"/>
                </a:solidFill>
                <a:latin typeface="Segoe UI"/>
              </a:rPr>
              <a:t>feedback_tokens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4617720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690"/>
                </a:solidFill>
                <a:latin typeface="Segoe UI"/>
              </a:rPr>
              <a:t>token · is_used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577840" y="4114800"/>
            <a:ext cx="192024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8A7E0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5577840" y="4114800"/>
            <a:ext cx="1920240" cy="82296"/>
          </a:xfrm>
          <a:prstGeom prst="rect">
            <a:avLst/>
          </a:prstGeom>
          <a:solidFill>
            <a:srgbClr val="B8A7E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669279" y="4233672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3B52"/>
                </a:solidFill>
                <a:latin typeface="Segoe UI"/>
              </a:rPr>
              <a:t>feedbacks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79" y="4617720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690"/>
                </a:solidFill>
                <a:latin typeface="Segoe UI"/>
              </a:rPr>
              <a:t>evaluation_id · faculty_id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46720" y="4114800"/>
            <a:ext cx="192024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8D9C4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046720" y="4114800"/>
            <a:ext cx="1920240" cy="82296"/>
          </a:xfrm>
          <a:prstGeom prst="rect">
            <a:avLst/>
          </a:prstGeom>
          <a:solidFill>
            <a:srgbClr val="E8D9C4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138160" y="4233672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3B52"/>
                </a:solidFill>
                <a:latin typeface="Segoe UI"/>
              </a:rPr>
              <a:t>feedback_answers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60" y="4617720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690"/>
                </a:solidFill>
                <a:latin typeface="Segoe UI"/>
              </a:rPr>
              <a:t>rating · comment · ai_score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560320" y="2606039"/>
            <a:ext cx="548640" cy="0"/>
          </a:xfrm>
          <a:prstGeom prst="line">
            <a:avLst/>
          </a:prstGeom>
          <a:ln w="19050">
            <a:solidFill>
              <a:srgbClr val="3D7E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029200" y="2606039"/>
            <a:ext cx="548640" cy="0"/>
          </a:xfrm>
          <a:prstGeom prst="line">
            <a:avLst/>
          </a:prstGeom>
          <a:ln w="19050">
            <a:solidFill>
              <a:srgbClr val="4E9C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498079" y="2606039"/>
            <a:ext cx="548641" cy="0"/>
          </a:xfrm>
          <a:prstGeom prst="line">
            <a:avLst/>
          </a:prstGeom>
          <a:ln w="19050">
            <a:solidFill>
              <a:srgbClr val="7C6B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560320" y="4617720"/>
            <a:ext cx="548640" cy="0"/>
          </a:xfrm>
          <a:prstGeom prst="line">
            <a:avLst/>
          </a:prstGeom>
          <a:ln w="19050">
            <a:solidFill>
              <a:srgbClr val="4E9C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5029200" y="4617720"/>
            <a:ext cx="548640" cy="0"/>
          </a:xfrm>
          <a:prstGeom prst="line">
            <a:avLst/>
          </a:prstGeom>
          <a:ln w="19050">
            <a:solidFill>
              <a:srgbClr val="3D7E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498079" y="4617720"/>
            <a:ext cx="548641" cy="0"/>
          </a:xfrm>
          <a:prstGeom prst="line">
            <a:avLst/>
          </a:prstGeom>
          <a:ln w="19050">
            <a:solidFill>
              <a:srgbClr val="A98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6583680" y="3108960"/>
            <a:ext cx="1920240" cy="1005840"/>
          </a:xfrm>
          <a:prstGeom prst="line">
            <a:avLst/>
          </a:prstGeom>
          <a:ln w="19050">
            <a:solidFill>
              <a:srgbClr val="7C6B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2514600" y="2286000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D7EA6"/>
                </a:solidFill>
                <a:latin typeface="Segoe UI"/>
              </a:rPr>
              <a:t>1 — 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83480" y="2286000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E9C88"/>
                </a:solidFill>
                <a:latin typeface="Segoe UI"/>
              </a:rPr>
              <a:t>1 — 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52360" y="2286000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C6BB5"/>
                </a:solidFill>
                <a:latin typeface="Segoe UI"/>
              </a:rPr>
              <a:t>M — 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14600" y="4297680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E9C88"/>
                </a:solidFill>
                <a:latin typeface="Segoe UI"/>
              </a:rPr>
              <a:t>1 — 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983480" y="4297680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D7EA6"/>
                </a:solidFill>
                <a:latin typeface="Segoe UI"/>
              </a:rPr>
              <a:t>1 — 1 · isolated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4297680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98B63"/>
                </a:solidFill>
                <a:latin typeface="Segoe UI"/>
              </a:rPr>
              <a:t>1 — 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06640" y="3310128"/>
            <a:ext cx="1371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C6BB5"/>
                </a:solidFill>
                <a:latin typeface="Segoe UI"/>
              </a:rPr>
              <a:t>submits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66928" y="5532120"/>
            <a:ext cx="11055096" cy="566928"/>
          </a:xfrm>
          <a:prstGeom prst="roundRect">
            <a:avLst>
              <a:gd name="adj" fmla="val 30000"/>
            </a:avLst>
          </a:prstGeom>
          <a:solidFill>
            <a:srgbClr val="F1E4D2"/>
          </a:solidFill>
          <a:ln w="12700">
            <a:solidFill>
              <a:srgbClr val="E8D9C4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77240" y="5532120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98B63"/>
                </a:solidFill>
                <a:latin typeface="Segoe UI"/>
              </a:rPr>
              <a:t>🔑  KEY DESIGN — </a:t>
            </a:r>
            <a:r>
              <a:rPr sz="1100" b="0" i="0">
                <a:solidFill>
                  <a:srgbClr val="4A5670"/>
                </a:solidFill>
                <a:latin typeface="Segoe UI"/>
              </a:rPr>
              <a:t>Token Isolation: the token verifies eligibility; feedback is stored with zero student linkage. Pivot tables (course_user, evaluation_courses) map the M—N relations.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3B5"/>
                </a:solidFill>
                <a:latin typeface="Segoe UI"/>
              </a:rPr>
              <a:t>SCHOLAR METRIC  ·  FINAL VIVA PRESENTATION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63840" y="6473952"/>
            <a:ext cx="374903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3B5"/>
                </a:solidFill>
                <a:latin typeface="Segoe UI"/>
              </a:rPr>
              <a:t>Group F25PROJECT56B6C   ·   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FAF8F4"/>
              </a:gs>
              <a:gs pos="100000">
                <a:srgbClr val="F1EEF7"/>
              </a:gs>
            </a:gsLst>
            <a:lin ang="63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424160" y="-1645920"/>
            <a:ext cx="4206240" cy="4206240"/>
          </a:xfrm>
          <a:prstGeom prst="ellipse">
            <a:avLst/>
          </a:prstGeom>
          <a:solidFill>
            <a:srgbClr val="7EC8E3">
              <a:alpha val="55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645920" y="5394960"/>
            <a:ext cx="3840480" cy="3840480"/>
          </a:xfrm>
          <a:prstGeom prst="ellipse">
            <a:avLst/>
          </a:prstGeom>
          <a:solidFill>
            <a:srgbClr val="B8A7E0">
              <a:alpha val="55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272016" y="5099615"/>
            <a:ext cx="2926080" cy="2926080"/>
          </a:xfrm>
          <a:prstGeom prst="ellipse">
            <a:avLst/>
          </a:prstGeom>
          <a:solidFill>
            <a:srgbClr val="98D8C8">
              <a:alpha val="50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566928" y="502920"/>
            <a:ext cx="749808" cy="329184"/>
          </a:xfrm>
          <a:prstGeom prst="roundRect">
            <a:avLst>
              <a:gd name="adj" fmla="val 50000"/>
            </a:avLst>
          </a:prstGeom>
          <a:solidFill>
            <a:srgbClr val="98D8C8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502920"/>
            <a:ext cx="74980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1328" y="502920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4E9C88"/>
                </a:solidFill>
                <a:latin typeface="Segoe UI"/>
              </a:rPr>
              <a:t>SYSTEM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93268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F3B52"/>
                </a:solidFill>
                <a:latin typeface="Segoe UI"/>
              </a:rPr>
              <a:t>System Architecture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" y="1755648"/>
            <a:ext cx="2103120" cy="54864"/>
          </a:xfrm>
          <a:prstGeom prst="rect">
            <a:avLst/>
          </a:prstGeom>
          <a:gradFill>
            <a:gsLst>
              <a:gs pos="0">
                <a:srgbClr val="98D8C8"/>
              </a:gs>
              <a:gs pos="100000">
                <a:srgbClr val="B8A7E0"/>
              </a:gs>
            </a:gsLst>
            <a:lin ang="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66928" y="2103120"/>
            <a:ext cx="256032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7EC8E3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2103120"/>
            <a:ext cx="2560320" cy="82296"/>
          </a:xfrm>
          <a:prstGeom prst="rect">
            <a:avLst/>
          </a:prstGeom>
          <a:solidFill>
            <a:srgbClr val="7EC8E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" y="2249424"/>
            <a:ext cx="2194560" cy="1490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3D7EA6"/>
                </a:solidFill>
                <a:latin typeface="Segoe UI"/>
              </a:rPr>
              <a:t>🖥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i="0">
                <a:solidFill>
                  <a:srgbClr val="2F3B52"/>
                </a:solidFill>
                <a:latin typeface="Segoe UI"/>
              </a:rPr>
              <a:t>Client / Presentation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690"/>
                </a:solidFill>
                <a:latin typeface="Segoe UI"/>
              </a:rPr>
              <a:t>Browser · Blade + Tailwind v4 · Vite + Alpine.js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27248" y="2994660"/>
            <a:ext cx="228600" cy="0"/>
          </a:xfrm>
          <a:prstGeom prst="line">
            <a:avLst/>
          </a:prstGeom>
          <a:ln w="25400">
            <a:solidFill>
              <a:srgbClr val="3D7EA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355848" y="2103120"/>
            <a:ext cx="256032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B8A7E0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55848" y="2103120"/>
            <a:ext cx="2560320" cy="82296"/>
          </a:xfrm>
          <a:prstGeom prst="rect">
            <a:avLst/>
          </a:prstGeom>
          <a:solidFill>
            <a:srgbClr val="B8A7E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38728" y="2249424"/>
            <a:ext cx="2194560" cy="1490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7C6BB5"/>
                </a:solidFill>
                <a:latin typeface="Segoe UI"/>
              </a:rPr>
              <a:t>⚙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i="0">
                <a:solidFill>
                  <a:srgbClr val="2F3B52"/>
                </a:solidFill>
                <a:latin typeface="Segoe UI"/>
              </a:rPr>
              <a:t>Application / Routing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690"/>
                </a:solidFill>
                <a:latin typeface="Segoe UI"/>
              </a:rPr>
              <a:t>Laravel 13 · PHP 8.4 · Sanctum Auth · RBAC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916168" y="2994660"/>
            <a:ext cx="228600" cy="0"/>
          </a:xfrm>
          <a:prstGeom prst="line">
            <a:avLst/>
          </a:prstGeom>
          <a:ln w="25400">
            <a:solidFill>
              <a:srgbClr val="7C6B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144768" y="2103120"/>
            <a:ext cx="256032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98D8C8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44768" y="2103120"/>
            <a:ext cx="2560320" cy="82296"/>
          </a:xfrm>
          <a:prstGeom prst="rect">
            <a:avLst/>
          </a:prstGeom>
          <a:solidFill>
            <a:srgbClr val="98D8C8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27648" y="2249424"/>
            <a:ext cx="2194560" cy="1490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4E9C88"/>
                </a:solidFill>
                <a:latin typeface="Segoe UI"/>
              </a:rPr>
              <a:t>🧠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i="0">
                <a:solidFill>
                  <a:srgbClr val="2F3B52"/>
                </a:solidFill>
                <a:latin typeface="Segoe UI"/>
              </a:rPr>
              <a:t>Business &amp; AI Layer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690"/>
                </a:solidFill>
                <a:latin typeface="Segoe UI"/>
              </a:rPr>
              <a:t>Evaluation manager · token engine · AI moderation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705088" y="2994660"/>
            <a:ext cx="228600" cy="0"/>
          </a:xfrm>
          <a:prstGeom prst="line">
            <a:avLst/>
          </a:prstGeom>
          <a:ln w="25400">
            <a:solidFill>
              <a:srgbClr val="4E9C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933688" y="2103120"/>
            <a:ext cx="256032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8D9C4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933688" y="2103120"/>
            <a:ext cx="2560320" cy="82296"/>
          </a:xfrm>
          <a:prstGeom prst="rect">
            <a:avLst/>
          </a:prstGeom>
          <a:solidFill>
            <a:srgbClr val="E8D9C4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16567" y="2249424"/>
            <a:ext cx="2194560" cy="1490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A98B63"/>
                </a:solidFill>
                <a:latin typeface="Segoe UI"/>
              </a:rPr>
              <a:t>🗄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i="0">
                <a:solidFill>
                  <a:srgbClr val="2F3B52"/>
                </a:solidFill>
                <a:latin typeface="Segoe UI"/>
              </a:rPr>
              <a:t>Persistence / Data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690"/>
                </a:solidFill>
                <a:latin typeface="Segoe UI"/>
              </a:rPr>
              <a:t>MySQL · Eloquent ORM · asset storage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494008" y="2994660"/>
            <a:ext cx="228600" cy="0"/>
          </a:xfrm>
          <a:prstGeom prst="line">
            <a:avLst/>
          </a:prstGeom>
          <a:ln w="25400">
            <a:solidFill>
              <a:srgbClr val="A98B6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6928" y="4160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F3B52"/>
                </a:solidFill>
                <a:latin typeface="Segoe UI"/>
              </a:rPr>
              <a:t>📡  DATA FLOW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4526280"/>
            <a:ext cx="1828800" cy="9144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7EC8E3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8368" y="4636008"/>
            <a:ext cx="1645920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F3B52"/>
                </a:solidFill>
                <a:latin typeface="Segoe UI"/>
              </a:rPr>
              <a:t>Request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690"/>
                </a:solidFill>
                <a:latin typeface="Segoe UI"/>
              </a:rPr>
              <a:t>routes &amp; middleware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395728" y="4983480"/>
            <a:ext cx="457200" cy="0"/>
          </a:xfrm>
          <a:prstGeom prst="line">
            <a:avLst/>
          </a:prstGeom>
          <a:ln w="25400">
            <a:solidFill>
              <a:srgbClr val="9AA3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2852928" y="4526280"/>
            <a:ext cx="1828800" cy="9144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B8A7E0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944368" y="4636008"/>
            <a:ext cx="1645920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F3B52"/>
                </a:solidFill>
                <a:latin typeface="Segoe UI"/>
              </a:rPr>
              <a:t>Auth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690"/>
                </a:solidFill>
                <a:latin typeface="Segoe UI"/>
              </a:rPr>
              <a:t>Sanctum + RBAC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681728" y="4983480"/>
            <a:ext cx="457200" cy="0"/>
          </a:xfrm>
          <a:prstGeom prst="line">
            <a:avLst/>
          </a:prstGeom>
          <a:ln w="25400">
            <a:solidFill>
              <a:srgbClr val="9AA3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5138928" y="4526280"/>
            <a:ext cx="1828800" cy="9144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98D8C8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230368" y="4636008"/>
            <a:ext cx="1645920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F3B52"/>
                </a:solidFill>
                <a:latin typeface="Segoe UI"/>
              </a:rPr>
              <a:t>Process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690"/>
                </a:solidFill>
                <a:latin typeface="Segoe UI"/>
              </a:rPr>
              <a:t>services + AI moderation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967728" y="4983480"/>
            <a:ext cx="457200" cy="0"/>
          </a:xfrm>
          <a:prstGeom prst="line">
            <a:avLst/>
          </a:prstGeom>
          <a:ln w="25400">
            <a:solidFill>
              <a:srgbClr val="9AA3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7424928" y="4526280"/>
            <a:ext cx="1828800" cy="9144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8D9C4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516368" y="4636008"/>
            <a:ext cx="1645920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F3B52"/>
                </a:solidFill>
                <a:latin typeface="Segoe UI"/>
              </a:rPr>
              <a:t>Data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690"/>
                </a:solidFill>
                <a:latin typeface="Segoe UI"/>
              </a:rPr>
              <a:t>Eloquent ↔ MySQL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253728" y="4983480"/>
            <a:ext cx="457200" cy="0"/>
          </a:xfrm>
          <a:prstGeom prst="line">
            <a:avLst/>
          </a:prstGeom>
          <a:ln w="25400">
            <a:solidFill>
              <a:srgbClr val="9AA3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9710928" y="4526280"/>
            <a:ext cx="1828800" cy="9144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7EC8E3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802368" y="4636008"/>
            <a:ext cx="1645920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F3B52"/>
                </a:solidFill>
                <a:latin typeface="Segoe UI"/>
              </a:rPr>
              <a:t>Render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690"/>
                </a:solidFill>
                <a:latin typeface="Segoe UI"/>
              </a:rPr>
              <a:t>Blade UI response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56692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690"/>
                </a:solidFill>
                <a:latin typeface="Segoe UI"/>
              </a:rPr>
              <a:t>Browser → Laravel routing → role middleware → services (token engine, AI moderation) → Eloquent ↔ MySQL → rendered Blade response.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3B5"/>
                </a:solidFill>
                <a:latin typeface="Segoe UI"/>
              </a:rPr>
              <a:t>SCHOLAR METRIC  ·  FINAL VIVA PRESENTATION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63840" y="6473952"/>
            <a:ext cx="374903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3B5"/>
                </a:solidFill>
                <a:latin typeface="Segoe UI"/>
              </a:rPr>
              <a:t>Group F25PROJECT56B6C   ·   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D4580-E231-D238-73EE-A4F895C04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14D77B3-9106-2C36-9AC8-5F9F1B07E6D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FAF8F4"/>
              </a:gs>
              <a:gs pos="100000">
                <a:srgbClr val="F1EEF7"/>
              </a:gs>
            </a:gsLst>
            <a:lin ang="63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18A2AE6-EBAE-A917-EDF4-DDAC5E9493A2}"/>
              </a:ext>
            </a:extLst>
          </p:cNvPr>
          <p:cNvSpPr/>
          <p:nvPr/>
        </p:nvSpPr>
        <p:spPr>
          <a:xfrm>
            <a:off x="10424160" y="-1645920"/>
            <a:ext cx="4206240" cy="4206240"/>
          </a:xfrm>
          <a:prstGeom prst="ellipse">
            <a:avLst/>
          </a:prstGeom>
          <a:solidFill>
            <a:srgbClr val="7EC8E3">
              <a:alpha val="55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9242DB5-42FC-53B9-C412-591D0E1A7012}"/>
              </a:ext>
            </a:extLst>
          </p:cNvPr>
          <p:cNvSpPr/>
          <p:nvPr/>
        </p:nvSpPr>
        <p:spPr>
          <a:xfrm>
            <a:off x="-1645920" y="5394960"/>
            <a:ext cx="3840480" cy="3840480"/>
          </a:xfrm>
          <a:prstGeom prst="ellipse">
            <a:avLst/>
          </a:prstGeom>
          <a:solidFill>
            <a:srgbClr val="B8A7E0">
              <a:alpha val="55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64B19F7-138C-AF53-E76A-2910C4450891}"/>
              </a:ext>
            </a:extLst>
          </p:cNvPr>
          <p:cNvSpPr/>
          <p:nvPr/>
        </p:nvSpPr>
        <p:spPr>
          <a:xfrm>
            <a:off x="8778240" y="5303520"/>
            <a:ext cx="2926080" cy="2926080"/>
          </a:xfrm>
          <a:prstGeom prst="ellipse">
            <a:avLst/>
          </a:prstGeom>
          <a:solidFill>
            <a:srgbClr val="98D8C8">
              <a:alpha val="50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D4E9A2E-D2AC-878F-6127-7552203AA954}"/>
              </a:ext>
            </a:extLst>
          </p:cNvPr>
          <p:cNvSpPr/>
          <p:nvPr/>
        </p:nvSpPr>
        <p:spPr>
          <a:xfrm>
            <a:off x="566928" y="502920"/>
            <a:ext cx="749808" cy="329184"/>
          </a:xfrm>
          <a:prstGeom prst="roundRect">
            <a:avLst>
              <a:gd name="adj" fmla="val 50000"/>
            </a:avLst>
          </a:prstGeom>
          <a:solidFill>
            <a:srgbClr val="E8D9C4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90F18C-1E06-042D-F303-A1497CAA9817}"/>
              </a:ext>
            </a:extLst>
          </p:cNvPr>
          <p:cNvSpPr txBox="1"/>
          <p:nvPr/>
        </p:nvSpPr>
        <p:spPr>
          <a:xfrm>
            <a:off x="566928" y="502920"/>
            <a:ext cx="74980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07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E54A6F-94BC-A285-11F5-8D53D33188A9}"/>
              </a:ext>
            </a:extLst>
          </p:cNvPr>
          <p:cNvSpPr txBox="1"/>
          <p:nvPr/>
        </p:nvSpPr>
        <p:spPr>
          <a:xfrm>
            <a:off x="1481328" y="502920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A98B63"/>
                </a:solidFill>
                <a:latin typeface="Segoe UI"/>
              </a:rPr>
              <a:t>TECHNOLOGY STACK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A24B21-BA39-623A-8DF3-431DE5FF40F7}"/>
              </a:ext>
            </a:extLst>
          </p:cNvPr>
          <p:cNvSpPr txBox="1"/>
          <p:nvPr/>
        </p:nvSpPr>
        <p:spPr>
          <a:xfrm>
            <a:off x="579396" y="93268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 dirty="0">
                <a:solidFill>
                  <a:srgbClr val="2F3B52"/>
                </a:solidFill>
                <a:latin typeface="Segoe UI"/>
              </a:rPr>
              <a:t>Technology Stack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8B3D7F-30D3-187B-4FA4-EF44ED92DB1C}"/>
              </a:ext>
            </a:extLst>
          </p:cNvPr>
          <p:cNvSpPr/>
          <p:nvPr/>
        </p:nvSpPr>
        <p:spPr>
          <a:xfrm>
            <a:off x="603504" y="1755648"/>
            <a:ext cx="2103120" cy="54864"/>
          </a:xfrm>
          <a:prstGeom prst="rect">
            <a:avLst/>
          </a:prstGeom>
          <a:gradFill>
            <a:gsLst>
              <a:gs pos="0">
                <a:srgbClr val="E8D9C4"/>
              </a:gs>
              <a:gs pos="100000">
                <a:srgbClr val="B8A7E0"/>
              </a:gs>
            </a:gsLst>
            <a:lin ang="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C854F4A-F8BD-0F2C-4C00-7B26BB83FDFB}"/>
              </a:ext>
            </a:extLst>
          </p:cNvPr>
          <p:cNvSpPr/>
          <p:nvPr/>
        </p:nvSpPr>
        <p:spPr>
          <a:xfrm>
            <a:off x="421105" y="1882223"/>
            <a:ext cx="3557016" cy="406301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7EC8E3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021655-BEA3-A474-24D2-66D8F10F24F4}"/>
              </a:ext>
            </a:extLst>
          </p:cNvPr>
          <p:cNvSpPr txBox="1"/>
          <p:nvPr/>
        </p:nvSpPr>
        <p:spPr>
          <a:xfrm>
            <a:off x="289491" y="2110117"/>
            <a:ext cx="3469174" cy="3549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700"/>
              </a:spcAft>
            </a:pPr>
            <a:r>
              <a:rPr sz="3200" b="1" i="0" dirty="0">
                <a:solidFill>
                  <a:srgbClr val="3D7EA6"/>
                </a:solidFill>
                <a:latin typeface="Segoe UI"/>
              </a:rPr>
              <a:t>  </a:t>
            </a:r>
            <a:r>
              <a:rPr sz="3200" b="1" i="0" dirty="0">
                <a:solidFill>
                  <a:srgbClr val="2F3B52"/>
                </a:solidFill>
                <a:latin typeface="Segoe UI"/>
              </a:rPr>
              <a:t>Frontend</a:t>
            </a:r>
            <a:endParaRPr lang="en-US" sz="3200" b="1" i="0" dirty="0">
              <a:solidFill>
                <a:srgbClr val="2F3B52"/>
              </a:solidFill>
              <a:latin typeface="Segoe UI"/>
            </a:endParaRPr>
          </a:p>
          <a:p>
            <a:pPr algn="ctr">
              <a:spcBef>
                <a:spcPts val="0"/>
              </a:spcBef>
              <a:spcAft>
                <a:spcPts val="700"/>
              </a:spcAft>
            </a:pPr>
            <a:endParaRPr sz="3200" b="1" i="0" dirty="0">
              <a:solidFill>
                <a:srgbClr val="2F3B52"/>
              </a:solidFill>
              <a:latin typeface="Segoe UI"/>
            </a:endParaRP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0" i="0" dirty="0">
                <a:solidFill>
                  <a:srgbClr val="6B7690"/>
                </a:solidFill>
                <a:latin typeface="Segoe UI"/>
              </a:rPr>
              <a:t>			</a:t>
            </a:r>
            <a:r>
              <a:rPr sz="2000" b="0" i="0" dirty="0">
                <a:solidFill>
                  <a:srgbClr val="6B7690"/>
                </a:solidFill>
                <a:latin typeface="Segoe UI"/>
              </a:rPr>
              <a:t>Blade templates</a:t>
            </a:r>
            <a:endParaRPr lang="en-US" sz="2000" b="0" i="0" dirty="0">
              <a:solidFill>
                <a:srgbClr val="6B7690"/>
              </a:solidFill>
              <a:latin typeface="Segoe UI"/>
            </a:endParaRP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dirty="0">
                <a:solidFill>
                  <a:srgbClr val="6B7690"/>
                </a:solidFill>
                <a:latin typeface="Segoe UI"/>
              </a:rPr>
              <a:t> </a:t>
            </a:r>
            <a:endParaRPr lang="en-US" sz="2000" b="0" i="0" dirty="0">
              <a:solidFill>
                <a:srgbClr val="6B7690"/>
              </a:solidFill>
              <a:latin typeface="Segoe UI"/>
            </a:endParaRP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 i="0" dirty="0">
                <a:solidFill>
                  <a:srgbClr val="6B7690"/>
                </a:solidFill>
                <a:latin typeface="Segoe UI"/>
              </a:rPr>
              <a:t>			</a:t>
            </a:r>
            <a:r>
              <a:rPr sz="2000" b="0" i="0" dirty="0">
                <a:solidFill>
                  <a:srgbClr val="6B7690"/>
                </a:solidFill>
                <a:latin typeface="Segoe UI"/>
              </a:rPr>
              <a:t>Tailwind CSS v4</a:t>
            </a:r>
            <a:endParaRPr lang="en-US" sz="2000" b="0" i="0" dirty="0">
              <a:solidFill>
                <a:srgbClr val="6B7690"/>
              </a:solidFill>
              <a:latin typeface="Segoe UI"/>
            </a:endParaRP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endParaRPr lang="en-US" sz="2000" b="0" i="0" dirty="0">
              <a:solidFill>
                <a:srgbClr val="6B7690"/>
              </a:solidFill>
              <a:latin typeface="Segoe UI"/>
            </a:endParaRP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dirty="0">
                <a:solidFill>
                  <a:srgbClr val="6B7690"/>
                </a:solidFill>
                <a:latin typeface="Segoe UI"/>
              </a:rPr>
              <a:t> </a:t>
            </a:r>
            <a:r>
              <a:rPr lang="en-US" sz="2000" b="0" i="0" dirty="0">
                <a:solidFill>
                  <a:srgbClr val="6B7690"/>
                </a:solidFill>
                <a:latin typeface="Segoe UI"/>
              </a:rPr>
              <a:t>			</a:t>
            </a:r>
            <a:r>
              <a:rPr sz="2000" b="0" i="0" dirty="0">
                <a:solidFill>
                  <a:srgbClr val="6B7690"/>
                </a:solidFill>
                <a:latin typeface="Segoe UI"/>
              </a:rPr>
              <a:t>Vite</a:t>
            </a:r>
            <a:endParaRPr lang="en-US" sz="2000" b="0" i="0" dirty="0">
              <a:solidFill>
                <a:srgbClr val="6B7690"/>
              </a:solidFill>
              <a:latin typeface="Segoe UI"/>
            </a:endParaRP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dirty="0">
                <a:solidFill>
                  <a:srgbClr val="6B7690"/>
                </a:solidFill>
                <a:latin typeface="Segoe UI"/>
              </a:rPr>
              <a:t> </a:t>
            </a:r>
            <a:endParaRPr lang="en-US" sz="2000" b="0" i="0" dirty="0">
              <a:solidFill>
                <a:srgbClr val="6B7690"/>
              </a:solidFill>
              <a:latin typeface="Segoe UI"/>
            </a:endParaRP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 i="0" dirty="0">
                <a:solidFill>
                  <a:srgbClr val="6B7690"/>
                </a:solidFill>
                <a:latin typeface="Segoe UI"/>
              </a:rPr>
              <a:t>			</a:t>
            </a:r>
            <a:r>
              <a:rPr sz="2000" b="0" i="0" dirty="0">
                <a:solidFill>
                  <a:srgbClr val="6B7690"/>
                </a:solidFill>
                <a:latin typeface="Segoe UI"/>
              </a:rPr>
              <a:t>Alpine.js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3789001-9B74-6515-773F-FA145469871E}"/>
              </a:ext>
            </a:extLst>
          </p:cNvPr>
          <p:cNvSpPr/>
          <p:nvPr/>
        </p:nvSpPr>
        <p:spPr>
          <a:xfrm>
            <a:off x="4251210" y="1862296"/>
            <a:ext cx="3557016" cy="406301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B8A7E0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171EFB-BDE7-6CEF-4243-0153424CA581}"/>
              </a:ext>
            </a:extLst>
          </p:cNvPr>
          <p:cNvSpPr txBox="1"/>
          <p:nvPr/>
        </p:nvSpPr>
        <p:spPr>
          <a:xfrm>
            <a:off x="4385643" y="2058546"/>
            <a:ext cx="3244226" cy="3549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700"/>
              </a:spcAft>
            </a:pPr>
            <a:r>
              <a:rPr lang="en-US" sz="3200" b="1" i="0" dirty="0">
                <a:solidFill>
                  <a:srgbClr val="7C6BB5"/>
                </a:solidFill>
                <a:latin typeface="Segoe UI"/>
              </a:rPr>
              <a:t> </a:t>
            </a:r>
            <a:r>
              <a:rPr sz="3200" b="1" i="0" dirty="0">
                <a:solidFill>
                  <a:srgbClr val="7C6BB5"/>
                </a:solidFill>
                <a:latin typeface="Segoe UI"/>
              </a:rPr>
              <a:t> </a:t>
            </a:r>
            <a:r>
              <a:rPr lang="en-US" sz="3200" b="1" i="0" dirty="0">
                <a:solidFill>
                  <a:srgbClr val="2F3B52"/>
                </a:solidFill>
                <a:latin typeface="Segoe UI"/>
              </a:rPr>
              <a:t>Ba</a:t>
            </a:r>
            <a:r>
              <a:rPr sz="3200" b="1" i="0" dirty="0">
                <a:solidFill>
                  <a:srgbClr val="2F3B52"/>
                </a:solidFill>
                <a:latin typeface="Segoe UI"/>
              </a:rPr>
              <a:t>ckend</a:t>
            </a:r>
            <a:endParaRPr lang="en-US" sz="3200" b="1" i="0" dirty="0">
              <a:solidFill>
                <a:srgbClr val="2F3B52"/>
              </a:solidFill>
              <a:latin typeface="Segoe UI"/>
            </a:endParaRPr>
          </a:p>
          <a:p>
            <a:pPr algn="ctr">
              <a:spcBef>
                <a:spcPts val="0"/>
              </a:spcBef>
              <a:spcAft>
                <a:spcPts val="700"/>
              </a:spcAft>
            </a:pPr>
            <a:endParaRPr sz="3200" b="1" i="0" dirty="0">
              <a:solidFill>
                <a:srgbClr val="2F3B52"/>
              </a:solidFill>
              <a:latin typeface="Segoe UI"/>
            </a:endParaRP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 i="0" dirty="0">
                <a:solidFill>
                  <a:srgbClr val="6B7690"/>
                </a:solidFill>
                <a:latin typeface="Segoe UI"/>
              </a:rPr>
              <a:t>	</a:t>
            </a:r>
            <a:r>
              <a:rPr sz="2000" b="0" i="0" dirty="0">
                <a:solidFill>
                  <a:srgbClr val="6B7690"/>
                </a:solidFill>
                <a:latin typeface="Segoe UI"/>
              </a:rPr>
              <a:t>PHP 8.4</a:t>
            </a:r>
            <a:endParaRPr lang="en-US" sz="2000" b="0" i="0" dirty="0">
              <a:solidFill>
                <a:srgbClr val="6B7690"/>
              </a:solidFill>
              <a:latin typeface="Segoe UI"/>
            </a:endParaRP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dirty="0">
                <a:solidFill>
                  <a:srgbClr val="6B7690"/>
                </a:solidFill>
                <a:latin typeface="Segoe UI"/>
              </a:rPr>
              <a:t>· </a:t>
            </a:r>
            <a:endParaRPr lang="en-US" sz="2000" b="0" i="0" dirty="0">
              <a:solidFill>
                <a:srgbClr val="6B7690"/>
              </a:solidFill>
              <a:latin typeface="Segoe UI"/>
            </a:endParaRP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 i="0" dirty="0">
                <a:solidFill>
                  <a:srgbClr val="6B7690"/>
                </a:solidFill>
                <a:latin typeface="Segoe UI"/>
              </a:rPr>
              <a:t>	</a:t>
            </a:r>
            <a:r>
              <a:rPr sz="2000" b="0" i="0" dirty="0">
                <a:solidFill>
                  <a:srgbClr val="6B7690"/>
                </a:solidFill>
                <a:latin typeface="Segoe UI"/>
              </a:rPr>
              <a:t>Laravel 13</a:t>
            </a:r>
            <a:endParaRPr lang="en-US" sz="2000" b="0" i="0" dirty="0">
              <a:solidFill>
                <a:srgbClr val="6B7690"/>
              </a:solidFill>
              <a:latin typeface="Segoe UI"/>
            </a:endParaRP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dirty="0">
                <a:solidFill>
                  <a:srgbClr val="6B7690"/>
                </a:solidFill>
                <a:latin typeface="Segoe UI"/>
              </a:rPr>
              <a:t> </a:t>
            </a:r>
            <a:endParaRPr lang="en-US" sz="2000" b="0" i="0" dirty="0">
              <a:solidFill>
                <a:srgbClr val="6B7690"/>
              </a:solidFill>
              <a:latin typeface="Segoe UI"/>
            </a:endParaRP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 i="0" dirty="0">
                <a:solidFill>
                  <a:srgbClr val="6B7690"/>
                </a:solidFill>
                <a:latin typeface="Segoe UI"/>
              </a:rPr>
              <a:t>	</a:t>
            </a:r>
            <a:r>
              <a:rPr sz="2000" b="0" i="0" dirty="0">
                <a:solidFill>
                  <a:srgbClr val="6B7690"/>
                </a:solidFill>
                <a:latin typeface="Segoe UI"/>
              </a:rPr>
              <a:t>Eloquent ORM </a:t>
            </a:r>
            <a:endParaRPr lang="en-US" sz="2000" b="0" i="0" dirty="0">
              <a:solidFill>
                <a:srgbClr val="6B7690"/>
              </a:solidFill>
              <a:latin typeface="Segoe UI"/>
            </a:endParaRP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srgbClr val="6B7690"/>
              </a:solidFill>
              <a:latin typeface="Segoe UI"/>
            </a:endParaRP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 i="0" dirty="0">
                <a:solidFill>
                  <a:srgbClr val="6B7690"/>
                </a:solidFill>
                <a:latin typeface="Segoe UI"/>
              </a:rPr>
              <a:t>	</a:t>
            </a:r>
            <a:r>
              <a:rPr sz="2000" b="0" i="0" dirty="0">
                <a:solidFill>
                  <a:srgbClr val="6B7690"/>
                </a:solidFill>
                <a:latin typeface="Segoe UI"/>
              </a:rPr>
              <a:t>Artisan CLI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662F948-C5AF-D180-E160-7528AFA17796}"/>
              </a:ext>
            </a:extLst>
          </p:cNvPr>
          <p:cNvSpPr/>
          <p:nvPr/>
        </p:nvSpPr>
        <p:spPr>
          <a:xfrm>
            <a:off x="8046719" y="1862296"/>
            <a:ext cx="3557016" cy="412383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98D8C8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A7AB5A-FD6E-3A6A-E8C3-AB3AE0D7C237}"/>
              </a:ext>
            </a:extLst>
          </p:cNvPr>
          <p:cNvSpPr txBox="1"/>
          <p:nvPr/>
        </p:nvSpPr>
        <p:spPr>
          <a:xfrm>
            <a:off x="8246517" y="2130278"/>
            <a:ext cx="3118104" cy="3420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700"/>
              </a:spcAft>
            </a:pPr>
            <a:r>
              <a:rPr sz="3200" b="1" i="0" dirty="0">
                <a:solidFill>
                  <a:srgbClr val="4E9C88"/>
                </a:solidFill>
                <a:latin typeface="Segoe UI"/>
              </a:rPr>
              <a:t>  </a:t>
            </a:r>
            <a:r>
              <a:rPr sz="3200" b="1" i="0" dirty="0">
                <a:solidFill>
                  <a:srgbClr val="2F3B52"/>
                </a:solidFill>
                <a:latin typeface="Segoe UI"/>
              </a:rPr>
              <a:t>Database</a:t>
            </a:r>
            <a:endParaRPr lang="en-US" sz="3200" b="1" i="0" dirty="0">
              <a:solidFill>
                <a:srgbClr val="2F3B52"/>
              </a:solidFill>
              <a:latin typeface="Segoe UI"/>
            </a:endParaRPr>
          </a:p>
          <a:p>
            <a:pPr algn="ctr">
              <a:spcBef>
                <a:spcPts val="0"/>
              </a:spcBef>
              <a:spcAft>
                <a:spcPts val="700"/>
              </a:spcAft>
            </a:pPr>
            <a:endParaRPr sz="3200" b="1" i="0" dirty="0">
              <a:solidFill>
                <a:srgbClr val="2F3B52"/>
              </a:solidFill>
              <a:latin typeface="Segoe UI"/>
            </a:endParaRP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0" i="0" dirty="0">
                <a:solidFill>
                  <a:srgbClr val="6B7690"/>
                </a:solidFill>
                <a:latin typeface="Segoe UI"/>
              </a:rPr>
              <a:t>	</a:t>
            </a:r>
            <a:r>
              <a:rPr sz="2000" b="0" i="0" dirty="0">
                <a:solidFill>
                  <a:srgbClr val="6B7690"/>
                </a:solidFill>
                <a:latin typeface="Segoe UI"/>
              </a:rPr>
              <a:t>MySQL</a:t>
            </a:r>
            <a:r>
              <a:rPr sz="1250" b="0" i="0" dirty="0">
                <a:solidFill>
                  <a:srgbClr val="6B7690"/>
                </a:solidFill>
                <a:latin typeface="Segoe UI"/>
              </a:rPr>
              <a:t> </a:t>
            </a:r>
            <a:endParaRPr lang="en-US" sz="1250" b="0" i="0" dirty="0">
              <a:solidFill>
                <a:srgbClr val="6B7690"/>
              </a:solidFill>
              <a:latin typeface="Segoe UI"/>
            </a:endParaRP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endParaRPr lang="en-US" sz="1250" b="0" i="0" dirty="0">
              <a:solidFill>
                <a:srgbClr val="6B7690"/>
              </a:solidFill>
              <a:latin typeface="Segoe UI"/>
            </a:endParaRP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0" i="0" dirty="0">
                <a:solidFill>
                  <a:srgbClr val="6B7690"/>
                </a:solidFill>
                <a:latin typeface="Segoe UI"/>
              </a:rPr>
              <a:t>	</a:t>
            </a:r>
            <a:r>
              <a:rPr lang="en-US" sz="2000" dirty="0">
                <a:solidFill>
                  <a:srgbClr val="6B7690"/>
                </a:solidFill>
                <a:latin typeface="Segoe UI"/>
              </a:rPr>
              <a:t>M</a:t>
            </a:r>
            <a:r>
              <a:rPr sz="2000" b="0" i="0" dirty="0">
                <a:solidFill>
                  <a:srgbClr val="6B7690"/>
                </a:solidFill>
                <a:latin typeface="Segoe UI"/>
              </a:rPr>
              <a:t>igrations</a:t>
            </a:r>
            <a:endParaRPr lang="en-US" sz="2000" b="0" i="0" dirty="0">
              <a:solidFill>
                <a:srgbClr val="6B7690"/>
              </a:solidFill>
              <a:latin typeface="Segoe UI"/>
            </a:endParaRP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dirty="0">
                <a:solidFill>
                  <a:srgbClr val="6B7690"/>
                </a:solidFill>
                <a:latin typeface="Segoe UI"/>
              </a:rPr>
              <a:t> </a:t>
            </a:r>
            <a:endParaRPr lang="en-US" sz="2000" b="0" i="0" dirty="0">
              <a:solidFill>
                <a:srgbClr val="6B7690"/>
              </a:solidFill>
              <a:latin typeface="Segoe UI"/>
            </a:endParaRP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 i="0" dirty="0">
                <a:solidFill>
                  <a:srgbClr val="6B7690"/>
                </a:solidFill>
                <a:latin typeface="Segoe UI"/>
              </a:rPr>
              <a:t>	</a:t>
            </a:r>
            <a:r>
              <a:rPr lang="en-US" sz="2000" dirty="0">
                <a:solidFill>
                  <a:srgbClr val="6B7690"/>
                </a:solidFill>
                <a:latin typeface="Segoe UI"/>
              </a:rPr>
              <a:t>S</a:t>
            </a:r>
            <a:r>
              <a:rPr sz="2000" b="0" i="0" dirty="0">
                <a:solidFill>
                  <a:srgbClr val="6B7690"/>
                </a:solidFill>
                <a:latin typeface="Segoe UI"/>
              </a:rPr>
              <a:t>eeders </a:t>
            </a:r>
            <a:endParaRPr lang="en-US" sz="2000" b="0" i="0" dirty="0">
              <a:solidFill>
                <a:srgbClr val="6B7690"/>
              </a:solidFill>
              <a:latin typeface="Segoe UI"/>
            </a:endParaRP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endParaRPr lang="en-US" sz="2000" b="0" i="0" dirty="0">
              <a:solidFill>
                <a:srgbClr val="6B7690"/>
              </a:solidFill>
              <a:latin typeface="Segoe UI"/>
            </a:endParaRP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 i="0" dirty="0">
                <a:solidFill>
                  <a:srgbClr val="6B7690"/>
                </a:solidFill>
                <a:latin typeface="Segoe UI"/>
              </a:rPr>
              <a:t>	</a:t>
            </a:r>
            <a:r>
              <a:rPr lang="en-US" sz="2000" dirty="0">
                <a:solidFill>
                  <a:srgbClr val="6B7690"/>
                </a:solidFill>
                <a:latin typeface="Segoe UI"/>
              </a:rPr>
              <a:t>F</a:t>
            </a:r>
            <a:r>
              <a:rPr sz="2000" b="0" i="0" dirty="0">
                <a:solidFill>
                  <a:srgbClr val="6B7690"/>
                </a:solidFill>
                <a:latin typeface="Segoe UI"/>
              </a:rPr>
              <a:t>actories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6D31AE4-7F7D-70D0-177E-87A31E26DD65}"/>
              </a:ext>
            </a:extLst>
          </p:cNvPr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3B5"/>
                </a:solidFill>
                <a:latin typeface="Segoe UI"/>
              </a:rPr>
              <a:t>SCHOLAR METRIC  ·  FINAL VIVA PRESENTATION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9E39E7F-08FE-8877-7A5D-A6A97ACB1659}"/>
              </a:ext>
            </a:extLst>
          </p:cNvPr>
          <p:cNvSpPr txBox="1"/>
          <p:nvPr/>
        </p:nvSpPr>
        <p:spPr>
          <a:xfrm>
            <a:off x="7863840" y="6473952"/>
            <a:ext cx="374903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3B5"/>
                </a:solidFill>
                <a:latin typeface="Segoe UI"/>
              </a:rPr>
              <a:t>Group F25PROJECT56B6C   ·   8 / 11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DA1571DA-E3E9-6C32-F73F-230FB7B964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558" y="3041164"/>
            <a:ext cx="775671" cy="775671"/>
          </a:xfrm>
          <a:prstGeom prst="rect">
            <a:avLst/>
          </a:prstGeom>
        </p:spPr>
      </p:pic>
      <p:pic>
        <p:nvPicPr>
          <p:cNvPr id="27" name="Picture 26" descr="Tailwind Css Fill icon - Free Download PNG &amp; SVG | Streamline">
            <a:extLst>
              <a:ext uri="{FF2B5EF4-FFF2-40B4-BE49-F238E27FC236}">
                <a16:creationId xmlns:a16="http://schemas.microsoft.com/office/drawing/2014/main" id="{6643E93E-0321-BFB1-EADE-66E03AC3B3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482" y="3826123"/>
            <a:ext cx="629845" cy="629845"/>
          </a:xfrm>
          <a:prstGeom prst="rect">
            <a:avLst/>
          </a:prstGeom>
        </p:spPr>
      </p:pic>
      <p:pic>
        <p:nvPicPr>
          <p:cNvPr id="28" name="Picture 27" descr="Vite.js SVG and transparent PNG icons | TechIcons">
            <a:extLst>
              <a:ext uri="{FF2B5EF4-FFF2-40B4-BE49-F238E27FC236}">
                <a16:creationId xmlns:a16="http://schemas.microsoft.com/office/drawing/2014/main" id="{9DD5B6E7-14B5-50DE-8D24-6B83862BBA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1617" y="4560000"/>
            <a:ext cx="549711" cy="549711"/>
          </a:xfrm>
          <a:prstGeom prst="rect">
            <a:avLst/>
          </a:prstGeom>
        </p:spPr>
      </p:pic>
      <p:pic>
        <p:nvPicPr>
          <p:cNvPr id="29" name="Picture 28" descr="Alpine.js SVG and transparent PNG icons | TechIcons">
            <a:extLst>
              <a:ext uri="{FF2B5EF4-FFF2-40B4-BE49-F238E27FC236}">
                <a16:creationId xmlns:a16="http://schemas.microsoft.com/office/drawing/2014/main" id="{446993D2-6AB6-C57F-DF4E-DBA981B02F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8454" y="5153195"/>
            <a:ext cx="690775" cy="690775"/>
          </a:xfrm>
          <a:prstGeom prst="rect">
            <a:avLst/>
          </a:prstGeom>
        </p:spPr>
      </p:pic>
      <p:pic>
        <p:nvPicPr>
          <p:cNvPr id="30" name="Picture 29" descr="File:PHP-logo.svg - Wikimedia Commons">
            <a:extLst>
              <a:ext uri="{FF2B5EF4-FFF2-40B4-BE49-F238E27FC236}">
                <a16:creationId xmlns:a16="http://schemas.microsoft.com/office/drawing/2014/main" id="{DB90A3C5-67B3-1210-8033-D61E9C66AAF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21490" y="3235601"/>
            <a:ext cx="575983" cy="310791"/>
          </a:xfrm>
          <a:prstGeom prst="rect">
            <a:avLst/>
          </a:prstGeom>
        </p:spPr>
      </p:pic>
      <p:pic>
        <p:nvPicPr>
          <p:cNvPr id="31" name="Picture 30" descr="File:Laravel.svg - Wikimedia Commons">
            <a:extLst>
              <a:ext uri="{FF2B5EF4-FFF2-40B4-BE49-F238E27FC236}">
                <a16:creationId xmlns:a16="http://schemas.microsoft.com/office/drawing/2014/main" id="{01799175-A2BE-7C08-6D38-CB3DFCD8E43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5354" y="3753088"/>
            <a:ext cx="532119" cy="553736"/>
          </a:xfrm>
          <a:prstGeom prst="rect">
            <a:avLst/>
          </a:prstGeom>
        </p:spPr>
      </p:pic>
      <p:pic>
        <p:nvPicPr>
          <p:cNvPr id="32" name="Picture 31" descr="Command Line Interface Icons - Free SVG &amp; PNG Command Line Interface Images  - Noun Project">
            <a:extLst>
              <a:ext uri="{FF2B5EF4-FFF2-40B4-BE49-F238E27FC236}">
                <a16:creationId xmlns:a16="http://schemas.microsoft.com/office/drawing/2014/main" id="{F65BD8EB-B9DD-9E77-F4F2-8585085A1F8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66695" y="5170039"/>
            <a:ext cx="532421" cy="532421"/>
          </a:xfrm>
          <a:prstGeom prst="rect">
            <a:avLst/>
          </a:prstGeom>
        </p:spPr>
      </p:pic>
      <p:pic>
        <p:nvPicPr>
          <p:cNvPr id="33" name="Picture 32" descr="6 Laravel Eloquent Secrets to improve your code - Laravel News">
            <a:extLst>
              <a:ext uri="{FF2B5EF4-FFF2-40B4-BE49-F238E27FC236}">
                <a16:creationId xmlns:a16="http://schemas.microsoft.com/office/drawing/2014/main" id="{8215AA64-8399-DF51-1E93-9D905E0D6B0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flipH="1">
            <a:off x="4623133" y="4560000"/>
            <a:ext cx="575983" cy="409906"/>
          </a:xfrm>
          <a:prstGeom prst="rect">
            <a:avLst/>
          </a:prstGeom>
        </p:spPr>
      </p:pic>
      <p:pic>
        <p:nvPicPr>
          <p:cNvPr id="35" name="Picture 34" descr="Mysql Icon &amp; Logo | Dashboard Icons &amp; Logos">
            <a:extLst>
              <a:ext uri="{FF2B5EF4-FFF2-40B4-BE49-F238E27FC236}">
                <a16:creationId xmlns:a16="http://schemas.microsoft.com/office/drawing/2014/main" id="{344B13B0-83F1-4FD4-736A-97F9F1CD280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25866" y="3122258"/>
            <a:ext cx="558619" cy="558619"/>
          </a:xfrm>
          <a:prstGeom prst="rect">
            <a:avLst/>
          </a:prstGeom>
        </p:spPr>
      </p:pic>
      <p:pic>
        <p:nvPicPr>
          <p:cNvPr id="36" name="Picture 35" descr="Laravel Migration guide – Skynet Technologies">
            <a:extLst>
              <a:ext uri="{FF2B5EF4-FFF2-40B4-BE49-F238E27FC236}">
                <a16:creationId xmlns:a16="http://schemas.microsoft.com/office/drawing/2014/main" id="{BA2FF662-3EDA-3648-9313-DD5B1BB441A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564679" y="3812206"/>
            <a:ext cx="640402" cy="480301"/>
          </a:xfrm>
          <a:prstGeom prst="rect">
            <a:avLst/>
          </a:prstGeom>
        </p:spPr>
      </p:pic>
      <p:pic>
        <p:nvPicPr>
          <p:cNvPr id="37" name="Picture 36" descr="Laravel Seeders: A Comprehensive Guide | by Cleyton Bonamigo | Medium">
            <a:extLst>
              <a:ext uri="{FF2B5EF4-FFF2-40B4-BE49-F238E27FC236}">
                <a16:creationId xmlns:a16="http://schemas.microsoft.com/office/drawing/2014/main" id="{A55BB5F5-12FC-2364-E035-67F7C27012E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9876" y="4423814"/>
            <a:ext cx="587597" cy="440697"/>
          </a:xfrm>
          <a:prstGeom prst="rect">
            <a:avLst/>
          </a:prstGeom>
        </p:spPr>
      </p:pic>
      <p:pic>
        <p:nvPicPr>
          <p:cNvPr id="38" name="Picture 37" descr="Laravel Icon SVG Vector &amp; PNG Free Download | UXWing">
            <a:extLst>
              <a:ext uri="{FF2B5EF4-FFF2-40B4-BE49-F238E27FC236}">
                <a16:creationId xmlns:a16="http://schemas.microsoft.com/office/drawing/2014/main" id="{8A1717F1-0DDB-1678-3E4C-89F96698764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577071" y="5088719"/>
            <a:ext cx="640402" cy="440697"/>
          </a:xfrm>
          <a:prstGeom prst="rect">
            <a:avLst/>
          </a:prstGeom>
        </p:spPr>
      </p:pic>
      <p:pic>
        <p:nvPicPr>
          <p:cNvPr id="25" name="Picture 24" descr="Backend - Free seo and web icons">
            <a:extLst>
              <a:ext uri="{FF2B5EF4-FFF2-40B4-BE49-F238E27FC236}">
                <a16:creationId xmlns:a16="http://schemas.microsoft.com/office/drawing/2014/main" id="{2083FB31-043F-4FAF-1FB0-8D1E34E1CD7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338889" y="1914058"/>
            <a:ext cx="934860" cy="934860"/>
          </a:xfrm>
          <a:prstGeom prst="rect">
            <a:avLst/>
          </a:prstGeom>
        </p:spPr>
      </p:pic>
      <p:pic>
        <p:nvPicPr>
          <p:cNvPr id="34" name="Picture 33" descr="Frontend - Free seo and web icons">
            <a:extLst>
              <a:ext uri="{FF2B5EF4-FFF2-40B4-BE49-F238E27FC236}">
                <a16:creationId xmlns:a16="http://schemas.microsoft.com/office/drawing/2014/main" id="{111B7936-AA68-CC9E-E0C9-41D25A66F58F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50604" y="1950067"/>
            <a:ext cx="855700" cy="855700"/>
          </a:xfrm>
          <a:prstGeom prst="rect">
            <a:avLst/>
          </a:prstGeom>
        </p:spPr>
      </p:pic>
      <p:pic>
        <p:nvPicPr>
          <p:cNvPr id="39" name="Picture 38" descr="Database DB Icon SVG Vector &amp; PNG Free Download | UXWing">
            <a:extLst>
              <a:ext uri="{FF2B5EF4-FFF2-40B4-BE49-F238E27FC236}">
                <a16:creationId xmlns:a16="http://schemas.microsoft.com/office/drawing/2014/main" id="{63F2284D-72A9-A689-449F-59327D70044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169412" y="2024522"/>
            <a:ext cx="715468" cy="863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71119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FAF8F4"/>
              </a:gs>
              <a:gs pos="100000">
                <a:srgbClr val="F1EEF7"/>
              </a:gs>
            </a:gsLst>
            <a:lin ang="63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Oval 2"/>
          <p:cNvSpPr/>
          <p:nvPr/>
        </p:nvSpPr>
        <p:spPr>
          <a:xfrm>
            <a:off x="10424160" y="-1645920"/>
            <a:ext cx="4206240" cy="4206240"/>
          </a:xfrm>
          <a:prstGeom prst="ellipse">
            <a:avLst/>
          </a:prstGeom>
          <a:solidFill>
            <a:srgbClr val="7EC8E3">
              <a:alpha val="55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645920" y="5394960"/>
            <a:ext cx="3840480" cy="3840480"/>
          </a:xfrm>
          <a:prstGeom prst="ellipse">
            <a:avLst/>
          </a:prstGeom>
          <a:solidFill>
            <a:srgbClr val="B8A7E0">
              <a:alpha val="55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778240" y="5303520"/>
            <a:ext cx="2926080" cy="2926080"/>
          </a:xfrm>
          <a:prstGeom prst="ellipse">
            <a:avLst/>
          </a:prstGeom>
          <a:solidFill>
            <a:srgbClr val="98D8C8">
              <a:alpha val="50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66928" y="502920"/>
            <a:ext cx="749808" cy="329184"/>
          </a:xfrm>
          <a:prstGeom prst="roundRect">
            <a:avLst>
              <a:gd name="adj" fmla="val 50000"/>
            </a:avLst>
          </a:prstGeom>
          <a:solidFill>
            <a:srgbClr val="E8D9C4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502920"/>
            <a:ext cx="74980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1328" y="502920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A98B63"/>
                </a:solidFill>
                <a:latin typeface="Segoe UI"/>
              </a:rPr>
              <a:t>TECHNOLOGY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93268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F3B52"/>
                </a:solidFill>
                <a:latin typeface="Segoe UI"/>
              </a:rPr>
              <a:t>Technology Stack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" y="1755648"/>
            <a:ext cx="2103120" cy="54864"/>
          </a:xfrm>
          <a:prstGeom prst="rect">
            <a:avLst/>
          </a:prstGeom>
          <a:gradFill>
            <a:gsLst>
              <a:gs pos="0">
                <a:srgbClr val="E8D9C4"/>
              </a:gs>
              <a:gs pos="100000">
                <a:srgbClr val="B8A7E0"/>
              </a:gs>
            </a:gsLst>
            <a:lin ang="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66928" y="2151246"/>
            <a:ext cx="3557016" cy="367348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8D9C4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6384" y="2451795"/>
            <a:ext cx="3118104" cy="31886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2400" b="1" i="0" dirty="0">
                <a:solidFill>
                  <a:srgbClr val="A98B63"/>
                </a:solidFill>
                <a:latin typeface="Segoe UI"/>
              </a:rPr>
              <a:t>🔐  </a:t>
            </a:r>
            <a:r>
              <a:rPr sz="2400" b="1" i="0" dirty="0">
                <a:solidFill>
                  <a:srgbClr val="2F3B52"/>
                </a:solidFill>
                <a:latin typeface="Segoe UI"/>
              </a:rPr>
              <a:t>Security &amp; Auth</a:t>
            </a:r>
            <a:endParaRPr lang="en-US" sz="2400" b="1" i="0" dirty="0">
              <a:solidFill>
                <a:srgbClr val="2F3B5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 i="0" dirty="0">
                <a:solidFill>
                  <a:srgbClr val="6B7690"/>
                </a:solidFill>
                <a:latin typeface="Segoe UI"/>
              </a:rPr>
              <a:t>	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 i="0" dirty="0">
                <a:solidFill>
                  <a:srgbClr val="6B7690"/>
                </a:solidFill>
                <a:latin typeface="Segoe UI"/>
              </a:rPr>
              <a:t>	</a:t>
            </a:r>
            <a:r>
              <a:rPr sz="2000" b="0" i="0" dirty="0">
                <a:solidFill>
                  <a:srgbClr val="6B7690"/>
                </a:solidFill>
                <a:latin typeface="Segoe UI"/>
              </a:rPr>
              <a:t>Sanctum</a:t>
            </a:r>
            <a:endParaRPr lang="en-US" sz="2000" b="0" i="0" dirty="0">
              <a:solidFill>
                <a:srgbClr val="6B7690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endParaRPr lang="en-US" sz="2000" b="0" i="0" dirty="0">
              <a:solidFill>
                <a:srgbClr val="6B7690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 i="0" dirty="0">
                <a:solidFill>
                  <a:srgbClr val="6B7690"/>
                </a:solidFill>
                <a:latin typeface="Segoe UI"/>
              </a:rPr>
              <a:t>	</a:t>
            </a:r>
            <a:r>
              <a:rPr lang="en-US" sz="2000" dirty="0">
                <a:solidFill>
                  <a:srgbClr val="6B7690"/>
                </a:solidFill>
                <a:latin typeface="Segoe UI"/>
              </a:rPr>
              <a:t>R</a:t>
            </a:r>
            <a:r>
              <a:rPr sz="2000" b="0" i="0" dirty="0">
                <a:solidFill>
                  <a:srgbClr val="6B7690"/>
                </a:solidFill>
                <a:latin typeface="Segoe UI"/>
              </a:rPr>
              <a:t>ole-based access</a:t>
            </a:r>
            <a:endParaRPr lang="en-US" sz="2000" b="0" i="0" dirty="0">
              <a:solidFill>
                <a:srgbClr val="6B7690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dirty="0">
                <a:solidFill>
                  <a:srgbClr val="6B7690"/>
                </a:solidFill>
                <a:latin typeface="Segoe UI"/>
              </a:rPr>
              <a:t> </a:t>
            </a:r>
            <a:endParaRPr lang="en-US" sz="2000" b="0" i="0" dirty="0">
              <a:solidFill>
                <a:srgbClr val="6B7690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 i="0" dirty="0">
                <a:solidFill>
                  <a:srgbClr val="6B7690"/>
                </a:solidFill>
                <a:latin typeface="Segoe UI"/>
              </a:rPr>
              <a:t>	</a:t>
            </a:r>
            <a:r>
              <a:rPr sz="2000" b="0" i="0" dirty="0">
                <a:solidFill>
                  <a:srgbClr val="6B7690"/>
                </a:solidFill>
                <a:latin typeface="Segoe UI"/>
              </a:rPr>
              <a:t>CSRF </a:t>
            </a:r>
            <a:endParaRPr lang="en-US" sz="2000" b="0" i="0" dirty="0">
              <a:solidFill>
                <a:srgbClr val="6B7690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endParaRPr lang="en-US" sz="2000" b="0" i="0" dirty="0">
              <a:solidFill>
                <a:srgbClr val="6B7690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 i="0" dirty="0">
                <a:solidFill>
                  <a:srgbClr val="6B7690"/>
                </a:solidFill>
                <a:latin typeface="Segoe UI"/>
              </a:rPr>
              <a:t>	</a:t>
            </a:r>
            <a:r>
              <a:rPr lang="en-US" sz="2000" dirty="0">
                <a:solidFill>
                  <a:srgbClr val="6B7690"/>
                </a:solidFill>
                <a:latin typeface="Segoe UI"/>
              </a:rPr>
              <a:t>T</a:t>
            </a:r>
            <a:r>
              <a:rPr sz="2000" b="0" i="0" dirty="0">
                <a:solidFill>
                  <a:srgbClr val="6B7690"/>
                </a:solidFill>
                <a:latin typeface="Segoe UI"/>
              </a:rPr>
              <a:t>oken hashing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6824" y="2151246"/>
            <a:ext cx="3557016" cy="367348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7EC8E3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0" name="TextBox 19"/>
          <p:cNvSpPr txBox="1"/>
          <p:nvPr/>
        </p:nvSpPr>
        <p:spPr>
          <a:xfrm>
            <a:off x="4571999" y="2430177"/>
            <a:ext cx="3118104" cy="22689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2400" b="1" i="0" dirty="0">
                <a:solidFill>
                  <a:srgbClr val="3D7EA6"/>
                </a:solidFill>
                <a:latin typeface="Segoe UI"/>
              </a:rPr>
              <a:t>🤖  </a:t>
            </a:r>
            <a:r>
              <a:rPr sz="2400" b="1" i="0" dirty="0">
                <a:solidFill>
                  <a:srgbClr val="2F3B52"/>
                </a:solidFill>
                <a:latin typeface="Segoe UI"/>
              </a:rPr>
              <a:t>AI Moderation</a:t>
            </a:r>
            <a:endParaRPr lang="en-US" sz="2400" b="1" i="0" dirty="0">
              <a:solidFill>
                <a:srgbClr val="2F3B52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700"/>
              </a:spcAft>
            </a:pPr>
            <a:endParaRPr sz="2400" b="1" i="0" dirty="0">
              <a:solidFill>
                <a:srgbClr val="2F3B5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 i="0" dirty="0">
                <a:solidFill>
                  <a:srgbClr val="6B7690"/>
                </a:solidFill>
                <a:latin typeface="Segoe UI"/>
              </a:rPr>
              <a:t>	</a:t>
            </a:r>
            <a:r>
              <a:rPr sz="2000" b="0" i="0" dirty="0">
                <a:solidFill>
                  <a:srgbClr val="6B7690"/>
                </a:solidFill>
                <a:latin typeface="Segoe UI"/>
              </a:rPr>
              <a:t>Real-time </a:t>
            </a:r>
            <a:endParaRPr lang="en-US" sz="2000" b="0" i="0" dirty="0">
              <a:solidFill>
                <a:srgbClr val="6B7690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endParaRPr lang="en-US" sz="2000" b="0" i="0" dirty="0">
              <a:solidFill>
                <a:srgbClr val="6B7690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6B7690"/>
                </a:solidFill>
                <a:latin typeface="Segoe UI"/>
              </a:rPr>
              <a:t>	T</a:t>
            </a:r>
            <a:r>
              <a:rPr sz="2000" b="0" i="0" dirty="0">
                <a:solidFill>
                  <a:srgbClr val="6B7690"/>
                </a:solidFill>
                <a:latin typeface="Segoe UI"/>
              </a:rPr>
              <a:t>oxicity scoring &amp; </a:t>
            </a:r>
            <a:r>
              <a:rPr lang="en-US" sz="2000" b="0" i="0" dirty="0">
                <a:solidFill>
                  <a:srgbClr val="6B7690"/>
                </a:solidFill>
                <a:latin typeface="Segoe UI"/>
              </a:rPr>
              <a:t>	</a:t>
            </a:r>
            <a:r>
              <a:rPr sz="2000" b="0" i="0" dirty="0">
                <a:solidFill>
                  <a:srgbClr val="6B7690"/>
                </a:solidFill>
                <a:latin typeface="Segoe UI"/>
              </a:rPr>
              <a:t>comment cleaning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19" y="2079498"/>
            <a:ext cx="3557016" cy="373011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B8A7E0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87512" y="2304770"/>
            <a:ext cx="3289664" cy="39925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2400" b="1" i="0" dirty="0">
                <a:solidFill>
                  <a:srgbClr val="7C6BB5"/>
                </a:solidFill>
                <a:latin typeface="Segoe UI"/>
              </a:rPr>
              <a:t>🧪  </a:t>
            </a:r>
            <a:r>
              <a:rPr sz="2400" b="1" i="0" dirty="0">
                <a:solidFill>
                  <a:srgbClr val="2F3B52"/>
                </a:solidFill>
                <a:latin typeface="Segoe UI"/>
              </a:rPr>
              <a:t>Testing &amp; Tools</a:t>
            </a:r>
            <a:endParaRPr lang="en-US" sz="2400" b="1" i="0" dirty="0">
              <a:solidFill>
                <a:srgbClr val="2F3B52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700"/>
              </a:spcAft>
            </a:pPr>
            <a:endParaRPr sz="2400" b="1" i="0" dirty="0">
              <a:solidFill>
                <a:srgbClr val="2F3B52"/>
              </a:solidFill>
              <a:latin typeface="Segoe UI"/>
            </a:endParaRPr>
          </a:p>
          <a:p>
            <a:pPr>
              <a:lnSpc>
                <a:spcPct val="112000"/>
              </a:lnSpc>
            </a:pPr>
            <a:r>
              <a:rPr lang="en-US" sz="2000" b="0" i="0" dirty="0">
                <a:solidFill>
                  <a:srgbClr val="6B7690"/>
                </a:solidFill>
                <a:latin typeface="Segoe UI"/>
              </a:rPr>
              <a:t>	</a:t>
            </a:r>
            <a:r>
              <a:rPr sz="2000" b="0" i="0" dirty="0">
                <a:solidFill>
                  <a:srgbClr val="6B7690"/>
                </a:solidFill>
                <a:latin typeface="Segoe UI"/>
              </a:rPr>
              <a:t>Pest v4 </a:t>
            </a:r>
            <a:r>
              <a:rPr lang="en-US" sz="2000" b="0" i="0" dirty="0">
                <a:solidFill>
                  <a:srgbClr val="6B7690"/>
                </a:solidFill>
                <a:latin typeface="Segoe UI"/>
              </a:rPr>
              <a:t>			</a:t>
            </a:r>
            <a:r>
              <a:rPr lang="en-US" sz="2000" dirty="0">
                <a:solidFill>
                  <a:srgbClr val="6B7690"/>
                </a:solidFill>
                <a:latin typeface="Segoe UI"/>
              </a:rPr>
              <a:t>VS Code</a:t>
            </a:r>
            <a:endParaRPr lang="en-US" sz="2000" b="0" i="0" dirty="0">
              <a:solidFill>
                <a:srgbClr val="6B7690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srgbClr val="6B7690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 i="0" dirty="0">
                <a:solidFill>
                  <a:srgbClr val="6B7690"/>
                </a:solidFill>
                <a:latin typeface="Segoe UI"/>
              </a:rPr>
              <a:t>	</a:t>
            </a:r>
            <a:r>
              <a:rPr sz="2000" b="0" i="0" dirty="0">
                <a:solidFill>
                  <a:srgbClr val="6B7690"/>
                </a:solidFill>
                <a:latin typeface="Segoe UI"/>
              </a:rPr>
              <a:t>Pint </a:t>
            </a:r>
            <a:endParaRPr lang="en-US" sz="2000" b="0" i="0" dirty="0">
              <a:solidFill>
                <a:srgbClr val="6B7690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endParaRPr lang="en-US" sz="2000" b="0" i="0" dirty="0">
              <a:solidFill>
                <a:srgbClr val="6B7690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 i="0" dirty="0">
                <a:solidFill>
                  <a:srgbClr val="6B7690"/>
                </a:solidFill>
                <a:latin typeface="Segoe UI"/>
              </a:rPr>
              <a:t>	</a:t>
            </a:r>
            <a:r>
              <a:rPr sz="2000" b="0" i="0" dirty="0">
                <a:solidFill>
                  <a:srgbClr val="6B7690"/>
                </a:solidFill>
                <a:latin typeface="Segoe UI"/>
              </a:rPr>
              <a:t>Git </a:t>
            </a:r>
            <a:endParaRPr lang="en-US" sz="2000" b="0" i="0" dirty="0">
              <a:solidFill>
                <a:srgbClr val="6B7690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endParaRPr lang="en-US" sz="2000" b="0" i="0" dirty="0">
              <a:solidFill>
                <a:srgbClr val="6B7690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 i="0" dirty="0">
                <a:solidFill>
                  <a:srgbClr val="6B7690"/>
                </a:solidFill>
                <a:latin typeface="Segoe UI"/>
              </a:rPr>
              <a:t>	</a:t>
            </a:r>
            <a:r>
              <a:rPr lang="en-US" sz="2000" dirty="0">
                <a:solidFill>
                  <a:srgbClr val="6B7690"/>
                </a:solidFill>
                <a:latin typeface="Segoe UI"/>
              </a:rPr>
              <a:t>Ubuntu</a:t>
            </a:r>
            <a:r>
              <a:rPr sz="2000" b="0" i="0" dirty="0">
                <a:solidFill>
                  <a:srgbClr val="6B7690"/>
                </a:solidFill>
                <a:latin typeface="Segoe UI"/>
              </a:rPr>
              <a:t> </a:t>
            </a:r>
            <a:endParaRPr lang="en-US" sz="2000" b="0" i="0" dirty="0">
              <a:solidFill>
                <a:srgbClr val="6B7690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srgbClr val="6B7690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 i="0" dirty="0">
                <a:solidFill>
                  <a:srgbClr val="6B7690"/>
                </a:solidFill>
                <a:latin typeface="Segoe UI"/>
              </a:rPr>
              <a:t>	</a:t>
            </a:r>
            <a:endParaRPr sz="2000" b="0" i="0" dirty="0">
              <a:solidFill>
                <a:srgbClr val="6B7690"/>
              </a:solidFill>
              <a:latin typeface="Segoe U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3B5"/>
                </a:solidFill>
                <a:latin typeface="Segoe UI"/>
              </a:rPr>
              <a:t>SCHOLAR METRIC  ·  FINAL VIVA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6473952"/>
            <a:ext cx="374903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3B5"/>
                </a:solidFill>
                <a:latin typeface="Segoe UI"/>
              </a:rPr>
              <a:t>Group F25PROJECT56B6C   ·   8 / 11</a:t>
            </a:r>
          </a:p>
        </p:txBody>
      </p:sp>
      <p:pic>
        <p:nvPicPr>
          <p:cNvPr id="39" name="Picture 38" descr="Laravel Sanctum Install and Login and Register">
            <a:extLst>
              <a:ext uri="{FF2B5EF4-FFF2-40B4-BE49-F238E27FC236}">
                <a16:creationId xmlns:a16="http://schemas.microsoft.com/office/drawing/2014/main" id="{FBB1F79B-3966-ABA7-86AA-4DB615D316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99" y="3209697"/>
            <a:ext cx="516055" cy="493470"/>
          </a:xfrm>
          <a:prstGeom prst="rect">
            <a:avLst/>
          </a:prstGeom>
        </p:spPr>
      </p:pic>
      <p:pic>
        <p:nvPicPr>
          <p:cNvPr id="41" name="Picture 40" descr="Role Icon - Role Based Access Control Icon - (395x411) Png Clipart Download">
            <a:extLst>
              <a:ext uri="{FF2B5EF4-FFF2-40B4-BE49-F238E27FC236}">
                <a16:creationId xmlns:a16="http://schemas.microsoft.com/office/drawing/2014/main" id="{B40CC9A5-F83F-9A12-AFEF-017AAE917E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" y="3811045"/>
            <a:ext cx="624719" cy="650024"/>
          </a:xfrm>
          <a:prstGeom prst="rect">
            <a:avLst/>
          </a:prstGeom>
        </p:spPr>
      </p:pic>
      <p:pic>
        <p:nvPicPr>
          <p:cNvPr id="42" name="Picture 41" descr="Laravel CSRF: что это и способы защиты">
            <a:extLst>
              <a:ext uri="{FF2B5EF4-FFF2-40B4-BE49-F238E27FC236}">
                <a16:creationId xmlns:a16="http://schemas.microsoft.com/office/drawing/2014/main" id="{BC5F1D17-903C-7E8B-4C3B-B542A93BEE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799" y="4617790"/>
            <a:ext cx="490702" cy="368026"/>
          </a:xfrm>
          <a:prstGeom prst="rect">
            <a:avLst/>
          </a:prstGeom>
        </p:spPr>
      </p:pic>
      <p:pic>
        <p:nvPicPr>
          <p:cNvPr id="43" name="Picture 42" descr="Hashing - Free social media icons">
            <a:extLst>
              <a:ext uri="{FF2B5EF4-FFF2-40B4-BE49-F238E27FC236}">
                <a16:creationId xmlns:a16="http://schemas.microsoft.com/office/drawing/2014/main" id="{A2F89E41-B80E-B509-0607-9B62E90C9F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145" y="5187323"/>
            <a:ext cx="609604" cy="609604"/>
          </a:xfrm>
          <a:prstGeom prst="rect">
            <a:avLst/>
          </a:prstGeom>
        </p:spPr>
      </p:pic>
      <p:pic>
        <p:nvPicPr>
          <p:cNvPr id="44" name="Picture 43" descr="Real time - Free icons">
            <a:extLst>
              <a:ext uri="{FF2B5EF4-FFF2-40B4-BE49-F238E27FC236}">
                <a16:creationId xmlns:a16="http://schemas.microsoft.com/office/drawing/2014/main" id="{FAD1976B-C3D7-62C8-4F76-493EF393735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205231"/>
            <a:ext cx="595233" cy="595233"/>
          </a:xfrm>
          <a:prstGeom prst="rect">
            <a:avLst/>
          </a:prstGeom>
        </p:spPr>
      </p:pic>
      <p:pic>
        <p:nvPicPr>
          <p:cNvPr id="45" name="Picture 44" descr="Toxicity - Free industry icons">
            <a:extLst>
              <a:ext uri="{FF2B5EF4-FFF2-40B4-BE49-F238E27FC236}">
                <a16:creationId xmlns:a16="http://schemas.microsoft.com/office/drawing/2014/main" id="{4755E455-E8BC-6609-A91B-85388C7007F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98262" y="4028949"/>
            <a:ext cx="595234" cy="595234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4B0A7513-8BA3-CB4F-C428-184C9523E72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60368" y="3138080"/>
            <a:ext cx="526976" cy="526976"/>
          </a:xfrm>
          <a:prstGeom prst="rect">
            <a:avLst/>
          </a:prstGeom>
        </p:spPr>
      </p:pic>
      <p:pic>
        <p:nvPicPr>
          <p:cNvPr id="47" name="Picture 46" descr="Laravel Pint Formatter - Visual Studio Marketplace">
            <a:extLst>
              <a:ext uri="{FF2B5EF4-FFF2-40B4-BE49-F238E27FC236}">
                <a16:creationId xmlns:a16="http://schemas.microsoft.com/office/drawing/2014/main" id="{D1229CBA-9C06-58C9-600B-460A5E92E4F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33220" y="3806088"/>
            <a:ext cx="540759" cy="540759"/>
          </a:xfrm>
          <a:prstGeom prst="rect">
            <a:avLst/>
          </a:prstGeom>
        </p:spPr>
      </p:pic>
      <p:pic>
        <p:nvPicPr>
          <p:cNvPr id="48" name="Picture 47" descr="File:Git-icon-black.svg - Wikimedia Commons">
            <a:extLst>
              <a:ext uri="{FF2B5EF4-FFF2-40B4-BE49-F238E27FC236}">
                <a16:creationId xmlns:a16="http://schemas.microsoft.com/office/drawing/2014/main" id="{CA5340F5-D778-3571-C85B-9CA5873D8E3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33220" y="4477468"/>
            <a:ext cx="540759" cy="540759"/>
          </a:xfrm>
          <a:prstGeom prst="rect">
            <a:avLst/>
          </a:prstGeom>
        </p:spPr>
      </p:pic>
      <p:pic>
        <p:nvPicPr>
          <p:cNvPr id="49" name="Picture 48" descr="Ubuntu Color Icon SVG Vector &amp; PNG Free Download | UXWing">
            <a:extLst>
              <a:ext uri="{FF2B5EF4-FFF2-40B4-BE49-F238E27FC236}">
                <a16:creationId xmlns:a16="http://schemas.microsoft.com/office/drawing/2014/main" id="{3EE91856-11BC-149F-8E59-77F58FFD01D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33220" y="5134765"/>
            <a:ext cx="554124" cy="554124"/>
          </a:xfrm>
          <a:prstGeom prst="rect">
            <a:avLst/>
          </a:prstGeom>
        </p:spPr>
      </p:pic>
      <p:pic>
        <p:nvPicPr>
          <p:cNvPr id="50" name="Picture 49" descr="Visual Studio Code Icon SVG Vector &amp; PNG Free Download | UXWing">
            <a:extLst>
              <a:ext uri="{FF2B5EF4-FFF2-40B4-BE49-F238E27FC236}">
                <a16:creationId xmlns:a16="http://schemas.microsoft.com/office/drawing/2014/main" id="{92261BFE-77C6-3071-9FFE-F850FCA0DEAA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821692" y="3062588"/>
            <a:ext cx="602468" cy="60246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FAF8F4"/>
              </a:gs>
              <a:gs pos="100000">
                <a:srgbClr val="F1EEF7"/>
              </a:gs>
            </a:gsLst>
            <a:lin ang="63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424160" y="-1645920"/>
            <a:ext cx="4206240" cy="4206240"/>
          </a:xfrm>
          <a:prstGeom prst="ellipse">
            <a:avLst/>
          </a:prstGeom>
          <a:solidFill>
            <a:srgbClr val="7EC8E3">
              <a:alpha val="55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645920" y="5394960"/>
            <a:ext cx="3840480" cy="3840480"/>
          </a:xfrm>
          <a:prstGeom prst="ellipse">
            <a:avLst/>
          </a:prstGeom>
          <a:solidFill>
            <a:srgbClr val="B8A7E0">
              <a:alpha val="55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778240" y="5303520"/>
            <a:ext cx="2926080" cy="2926080"/>
          </a:xfrm>
          <a:prstGeom prst="ellipse">
            <a:avLst/>
          </a:prstGeom>
          <a:solidFill>
            <a:srgbClr val="98D8C8">
              <a:alpha val="50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66928" y="502920"/>
            <a:ext cx="749808" cy="329184"/>
          </a:xfrm>
          <a:prstGeom prst="roundRect">
            <a:avLst>
              <a:gd name="adj" fmla="val 50000"/>
            </a:avLst>
          </a:prstGeom>
          <a:solidFill>
            <a:srgbClr val="7EC8E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502920"/>
            <a:ext cx="74980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1328" y="502920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3D7EA6"/>
                </a:solidFill>
                <a:latin typeface="Segoe UI"/>
              </a:rPr>
              <a:t>MAIN FUNCTIONALITY &amp; USER INTERFACES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93268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F3B52"/>
                </a:solidFill>
                <a:latin typeface="Segoe UI"/>
              </a:rPr>
              <a:t>Main Functionality &amp; User Interfaces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" y="1755648"/>
            <a:ext cx="2103120" cy="54864"/>
          </a:xfrm>
          <a:prstGeom prst="rect">
            <a:avLst/>
          </a:prstGeom>
          <a:gradFill>
            <a:gsLst>
              <a:gs pos="0">
                <a:srgbClr val="7EC8E3"/>
              </a:gs>
              <a:gs pos="100000">
                <a:srgbClr val="B8A7E0"/>
              </a:gs>
            </a:gsLst>
            <a:lin ang="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66928" y="2057400"/>
            <a:ext cx="3108960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7EC8E3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8096" y="2203704"/>
            <a:ext cx="2724912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3D7EA6"/>
                </a:solidFill>
                <a:latin typeface="Segoe UI"/>
              </a:rPr>
              <a:t>🔐  </a:t>
            </a:r>
            <a:r>
              <a:rPr sz="1250" b="1" i="0">
                <a:solidFill>
                  <a:srgbClr val="2F3B52"/>
                </a:solidFill>
                <a:latin typeface="Segoe UI"/>
              </a:rPr>
              <a:t>Role-Based Login &amp; Dashboards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690"/>
                </a:solidFill>
                <a:latin typeface="Segoe UI"/>
              </a:rPr>
              <a:t>Auto-routing to Admin, Faculty &amp; Student portals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94760" y="2057400"/>
            <a:ext cx="3108960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B8A7E0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995928" y="2203704"/>
            <a:ext cx="2724912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7C6BB5"/>
                </a:solidFill>
                <a:latin typeface="Segoe UI"/>
              </a:rPr>
              <a:t>⚙  </a:t>
            </a:r>
            <a:r>
              <a:rPr sz="1250" b="1" i="0">
                <a:solidFill>
                  <a:srgbClr val="2F3B52"/>
                </a:solidFill>
                <a:latin typeface="Segoe UI"/>
              </a:rPr>
              <a:t>3-Step Evaluation Builder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690"/>
                </a:solidFill>
                <a:latin typeface="Segoe UI"/>
              </a:rPr>
              <a:t>Setup → assign faculty/courses → publish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94760"/>
            <a:ext cx="3108960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98D8C8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68096" y="3941064"/>
            <a:ext cx="2724912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4E9C88"/>
                </a:solidFill>
                <a:latin typeface="Segoe UI"/>
              </a:rPr>
              <a:t>🛡  </a:t>
            </a:r>
            <a:r>
              <a:rPr sz="1250" b="1" i="0">
                <a:solidFill>
                  <a:srgbClr val="2F3B52"/>
                </a:solidFill>
                <a:latin typeface="Segoe UI"/>
              </a:rPr>
              <a:t>AI Moderation Panel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690"/>
                </a:solidFill>
                <a:latin typeface="Segoe UI"/>
              </a:rPr>
              <a:t>Toxicity scores, flagged &amp; cleaned comments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94760" y="3794760"/>
            <a:ext cx="3108960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8D9C4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995928" y="3941064"/>
            <a:ext cx="2724912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A98B63"/>
                </a:solidFill>
                <a:latin typeface="Segoe UI"/>
              </a:rPr>
              <a:t>📑  </a:t>
            </a:r>
            <a:r>
              <a:rPr sz="1250" b="1" i="0">
                <a:solidFill>
                  <a:srgbClr val="2F3B52"/>
                </a:solidFill>
                <a:latin typeface="Segoe UI"/>
              </a:rPr>
              <a:t>Reports &amp; Export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690"/>
                </a:solidFill>
                <a:latin typeface="Segoe UI"/>
              </a:rPr>
              <a:t>Printable PDF &amp; Excel evaluation reports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69480" y="2057400"/>
            <a:ext cx="4343400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8A7E0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7269480" y="2057400"/>
            <a:ext cx="4343400" cy="402336"/>
          </a:xfrm>
          <a:prstGeom prst="roundRect">
            <a:avLst>
              <a:gd name="adj" fmla="val 6000"/>
            </a:avLst>
          </a:prstGeom>
          <a:solidFill>
            <a:srgbClr val="EFEDE8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434072" y="2185416"/>
            <a:ext cx="146304" cy="146304"/>
          </a:xfrm>
          <a:prstGeom prst="ellipse">
            <a:avLst/>
          </a:prstGeom>
          <a:solidFill>
            <a:srgbClr val="7EC8E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671816" y="2185416"/>
            <a:ext cx="146304" cy="146304"/>
          </a:xfrm>
          <a:prstGeom prst="ellipse">
            <a:avLst/>
          </a:prstGeom>
          <a:solidFill>
            <a:srgbClr val="B8A7E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7909560" y="2185416"/>
            <a:ext cx="146304" cy="146304"/>
          </a:xfrm>
          <a:prstGeom prst="ellipse">
            <a:avLst/>
          </a:prstGeom>
          <a:solidFill>
            <a:srgbClr val="98D8C8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275320" y="2157984"/>
            <a:ext cx="228600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75320" y="2157984"/>
            <a:ext cx="2286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690"/>
                </a:solidFill>
                <a:latin typeface="Segoe UI"/>
              </a:rPr>
              <a:t>scholarmetric.app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9480" y="2459736"/>
            <a:ext cx="1051560" cy="3026664"/>
          </a:xfrm>
          <a:prstGeom prst="rect">
            <a:avLst/>
          </a:prstGeom>
          <a:solidFill>
            <a:srgbClr val="F6F4E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7360920" y="2569464"/>
            <a:ext cx="868680" cy="29260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7EC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360920" y="2569464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3D7EA6"/>
                </a:solidFill>
                <a:latin typeface="Segoe UI"/>
              </a:rPr>
              <a:t>Dashboard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60920" y="2953512"/>
            <a:ext cx="868680" cy="292608"/>
          </a:xfrm>
          <a:prstGeom prst="roundRect">
            <a:avLst>
              <a:gd name="adj" fmla="val 30000"/>
            </a:avLst>
          </a:prstGeom>
          <a:solidFill>
            <a:srgbClr val="F6F4EF"/>
          </a:solidFill>
          <a:ln w="9525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360920" y="2953512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690"/>
                </a:solidFill>
                <a:latin typeface="Segoe UI"/>
              </a:rPr>
              <a:t>Evaluations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60920" y="3337560"/>
            <a:ext cx="868680" cy="292608"/>
          </a:xfrm>
          <a:prstGeom prst="roundRect">
            <a:avLst>
              <a:gd name="adj" fmla="val 30000"/>
            </a:avLst>
          </a:prstGeom>
          <a:solidFill>
            <a:srgbClr val="F6F4EF"/>
          </a:solidFill>
          <a:ln w="9525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360920" y="3337560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690"/>
                </a:solidFill>
                <a:latin typeface="Segoe UI"/>
              </a:rPr>
              <a:t>Reports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503920" y="2624328"/>
            <a:ext cx="137160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7EC8E3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595360" y="2679192"/>
            <a:ext cx="1188720" cy="5120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3D7EA6"/>
                </a:solidFill>
                <a:latin typeface="Segoe UI"/>
              </a:rPr>
              <a:t>124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690"/>
                </a:solidFill>
                <a:latin typeface="Segoe UI"/>
              </a:rPr>
              <a:t>Evaluations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28048" y="2624328"/>
            <a:ext cx="137160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A7E0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619488" y="2679192"/>
            <a:ext cx="1188720" cy="5120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7C6BB5"/>
                </a:solidFill>
                <a:latin typeface="Segoe UI"/>
              </a:rPr>
              <a:t>89%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690"/>
                </a:solidFill>
                <a:latin typeface="Segoe UI"/>
              </a:rPr>
              <a:t>Response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552176" y="2624328"/>
            <a:ext cx="137160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98D8C8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0643616" y="2679192"/>
            <a:ext cx="1188720" cy="5120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4E9C88"/>
                </a:solidFill>
                <a:latin typeface="Segoe UI"/>
              </a:rPr>
              <a:t>312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690"/>
                </a:solidFill>
                <a:latin typeface="Segoe UI"/>
              </a:rPr>
              <a:t>Feedbacks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67928" y="4023359"/>
            <a:ext cx="365760" cy="457200"/>
          </a:xfrm>
          <a:prstGeom prst="roundRect">
            <a:avLst>
              <a:gd name="adj" fmla="val 12000"/>
            </a:avLst>
          </a:prstGeom>
          <a:solidFill>
            <a:srgbClr val="7EC8E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9171432" y="3749039"/>
            <a:ext cx="365760" cy="731520"/>
          </a:xfrm>
          <a:prstGeom prst="roundRect">
            <a:avLst>
              <a:gd name="adj" fmla="val 12000"/>
            </a:avLst>
          </a:prstGeom>
          <a:solidFill>
            <a:srgbClr val="B8A7E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9774936" y="3913631"/>
            <a:ext cx="365760" cy="566928"/>
          </a:xfrm>
          <a:prstGeom prst="roundRect">
            <a:avLst>
              <a:gd name="adj" fmla="val 12000"/>
            </a:avLst>
          </a:prstGeom>
          <a:solidFill>
            <a:srgbClr val="98D8C8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10378440" y="3657599"/>
            <a:ext cx="365760" cy="822960"/>
          </a:xfrm>
          <a:prstGeom prst="roundRect">
            <a:avLst>
              <a:gd name="adj" fmla="val 12000"/>
            </a:avLst>
          </a:prstGeom>
          <a:solidFill>
            <a:srgbClr val="E8D9C4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10981944" y="3840479"/>
            <a:ext cx="365760" cy="640080"/>
          </a:xfrm>
          <a:prstGeom prst="roundRect">
            <a:avLst>
              <a:gd name="adj" fmla="val 12000"/>
            </a:avLst>
          </a:prstGeom>
          <a:solidFill>
            <a:srgbClr val="7EC8E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4" name="Connector 43"/>
          <p:cNvCxnSpPr/>
          <p:nvPr/>
        </p:nvCxnSpPr>
        <p:spPr>
          <a:xfrm>
            <a:off x="8503920" y="4434840"/>
            <a:ext cx="2971800" cy="0"/>
          </a:xfrm>
          <a:prstGeom prst="line">
            <a:avLst/>
          </a:prstGeom>
          <a:ln w="15875">
            <a:solidFill>
              <a:srgbClr val="D9D5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8503920" y="333756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F3B52"/>
                </a:solidFill>
                <a:latin typeface="Segoe UI"/>
              </a:rPr>
              <a:t>Feedback per course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69480" y="5577840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3B5"/>
                </a:solidFill>
                <a:latin typeface="Segoe UI"/>
              </a:rPr>
              <a:t>Sample — Admin Dashboard (replace with real screenshots)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66928" y="5806440"/>
            <a:ext cx="11055096" cy="457200"/>
          </a:xfrm>
          <a:prstGeom prst="roundRect">
            <a:avLst>
              <a:gd name="adj" fmla="val 50000"/>
            </a:avLst>
          </a:prstGeom>
          <a:solidFill>
            <a:srgbClr val="D9CEF2"/>
          </a:solidFill>
          <a:ln w="12700">
            <a:solidFill>
              <a:srgbClr val="B8A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66928" y="5806440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7C6BB5"/>
                </a:solidFill>
                <a:latin typeface="Segoe UI"/>
              </a:rPr>
              <a:t>OTHER SCREENS</a:t>
            </a:r>
            <a:r>
              <a:rPr sz="1150" b="0" i="0">
                <a:solidFill>
                  <a:srgbClr val="4A5670"/>
                </a:solidFill>
                <a:latin typeface="Segoe UI"/>
              </a:rPr>
              <a:t>    Login · Student Feedback Form · Faculty Analytics · Moderation Panel · Reports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3B5"/>
                </a:solidFill>
                <a:latin typeface="Segoe UI"/>
              </a:rPr>
              <a:t>SCHOLAR METRIC  ·  FINAL VIVA PRESENTATION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63840" y="6473952"/>
            <a:ext cx="374903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3B5"/>
                </a:solidFill>
                <a:latin typeface="Segoe UI"/>
              </a:rPr>
              <a:t>Group F25PROJECT56B6C   ·   9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FAF8F4"/>
              </a:gs>
              <a:gs pos="100000">
                <a:srgbClr val="F1EEF7"/>
              </a:gs>
            </a:gsLst>
            <a:lin ang="63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424160" y="-1645920"/>
            <a:ext cx="4206240" cy="4206240"/>
          </a:xfrm>
          <a:prstGeom prst="ellipse">
            <a:avLst/>
          </a:prstGeom>
          <a:solidFill>
            <a:srgbClr val="7EC8E3">
              <a:alpha val="55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645920" y="5394960"/>
            <a:ext cx="3840480" cy="3840480"/>
          </a:xfrm>
          <a:prstGeom prst="ellipse">
            <a:avLst/>
          </a:prstGeom>
          <a:solidFill>
            <a:srgbClr val="B8A7E0">
              <a:alpha val="55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778240" y="5303520"/>
            <a:ext cx="2926080" cy="2926080"/>
          </a:xfrm>
          <a:prstGeom prst="ellipse">
            <a:avLst/>
          </a:prstGeom>
          <a:solidFill>
            <a:srgbClr val="98D8C8">
              <a:alpha val="50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66928" y="502920"/>
            <a:ext cx="749808" cy="329184"/>
          </a:xfrm>
          <a:prstGeom prst="roundRect">
            <a:avLst>
              <a:gd name="adj" fmla="val 50000"/>
            </a:avLst>
          </a:prstGeom>
          <a:solidFill>
            <a:srgbClr val="B8A7E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502920"/>
            <a:ext cx="74980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1328" y="502920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C6BB5"/>
                </a:solidFill>
                <a:latin typeface="Segoe UI"/>
              </a:rPr>
              <a:t>CONCLUSION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93268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F3B52"/>
                </a:solidFill>
                <a:latin typeface="Segoe UI"/>
              </a:rPr>
              <a:t>Conclusion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" y="1755648"/>
            <a:ext cx="2103120" cy="54864"/>
          </a:xfrm>
          <a:prstGeom prst="rect">
            <a:avLst/>
          </a:prstGeom>
          <a:gradFill>
            <a:gsLst>
              <a:gs pos="0">
                <a:srgbClr val="B8A7E0"/>
              </a:gs>
              <a:gs pos="100000">
                <a:srgbClr val="B8A7E0"/>
              </a:gs>
            </a:gsLst>
            <a:lin ang="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66928" y="2057400"/>
            <a:ext cx="5532120" cy="3520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7EC8E3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267712"/>
            <a:ext cx="5029200" cy="3108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F3B52"/>
                </a:solidFill>
                <a:latin typeface="Segoe UI"/>
              </a:rPr>
              <a:t>📌  PROJECT SUMMARY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 i="0">
                <a:solidFill>
                  <a:srgbClr val="3D7EA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4A5670"/>
                </a:solidFill>
                <a:latin typeface="Segoe UI"/>
              </a:rPr>
              <a:t>Automated web platform for anonymous student feedback &amp; faculty evaluation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 i="0">
                <a:solidFill>
                  <a:srgbClr val="3D7EA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4A5670"/>
                </a:solidFill>
                <a:latin typeface="Segoe UI"/>
              </a:rPr>
              <a:t>Token-based anonymity guarantees honest, fear-free responses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 i="0">
                <a:solidFill>
                  <a:srgbClr val="3D7EA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4A5670"/>
                </a:solidFill>
                <a:latin typeface="Segoe UI"/>
              </a:rPr>
              <a:t>AI moderation keeps every comment professional and constructive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 i="0">
                <a:solidFill>
                  <a:srgbClr val="3D7EA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4A5670"/>
                </a:solidFill>
                <a:latin typeface="Segoe UI"/>
              </a:rPr>
              <a:t>Role-based portals with real-time analytics and exportable reports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2057400"/>
            <a:ext cx="5266944" cy="3520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98D8C8"/>
            </a:solidFill>
          </a:ln>
          <a:effectLst>
            <a:outerShdw blurRad="100000" dist="35000" dir="5400000" rotWithShape="0">
              <a:srgbClr val="B9C0D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11112" y="2267712"/>
            <a:ext cx="4754880" cy="3108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F3B52"/>
                </a:solidFill>
                <a:latin typeface="Segoe UI"/>
              </a:rPr>
              <a:t>🚀  FUTURE IMPROVEMENTS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 i="0">
                <a:solidFill>
                  <a:srgbClr val="4E9C88"/>
                </a:solidFill>
                <a:latin typeface="Segoe UI"/>
              </a:rPr>
              <a:t>•  </a:t>
            </a:r>
            <a:r>
              <a:rPr sz="1300" b="1" i="0">
                <a:solidFill>
                  <a:srgbClr val="2F3B52"/>
                </a:solidFill>
                <a:latin typeface="Segoe UI"/>
              </a:rPr>
              <a:t>Predictive sentiment trend modeling</a:t>
            </a:r>
            <a:r>
              <a:rPr sz="1200" b="0" i="0">
                <a:solidFill>
                  <a:srgbClr val="6B7690"/>
                </a:solidFill>
                <a:latin typeface="Segoe UI"/>
              </a:rPr>
              <a:t>   across semesters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 i="0">
                <a:solidFill>
                  <a:srgbClr val="4E9C88"/>
                </a:solidFill>
                <a:latin typeface="Segoe UI"/>
              </a:rPr>
              <a:t>•  </a:t>
            </a:r>
            <a:r>
              <a:rPr sz="1300" b="1" i="0">
                <a:solidFill>
                  <a:srgbClr val="2F3B52"/>
                </a:solidFill>
                <a:latin typeface="Segoe UI"/>
              </a:rPr>
              <a:t>LMS integration</a:t>
            </a:r>
            <a:r>
              <a:rPr sz="1200" b="0" i="0">
                <a:solidFill>
                  <a:srgbClr val="6B7690"/>
                </a:solidFill>
                <a:latin typeface="Segoe UI"/>
              </a:rPr>
              <a:t>   Canvas, Moodle, Blackboard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 i="0">
                <a:solidFill>
                  <a:srgbClr val="4E9C88"/>
                </a:solidFill>
                <a:latin typeface="Segoe UI"/>
              </a:rPr>
              <a:t>•  </a:t>
            </a:r>
            <a:r>
              <a:rPr sz="1300" b="1" i="0">
                <a:solidFill>
                  <a:srgbClr val="2F3B52"/>
                </a:solidFill>
                <a:latin typeface="Segoe UI"/>
              </a:rPr>
              <a:t>Multi-language support</a:t>
            </a:r>
            <a:r>
              <a:rPr sz="1200" b="0" i="0">
                <a:solidFill>
                  <a:srgbClr val="6B7690"/>
                </a:solidFill>
                <a:latin typeface="Segoe UI"/>
              </a:rPr>
              <a:t>   localized feedback forms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 i="0">
                <a:solidFill>
                  <a:srgbClr val="4E9C88"/>
                </a:solidFill>
                <a:latin typeface="Segoe UI"/>
              </a:rPr>
              <a:t>•  </a:t>
            </a:r>
            <a:r>
              <a:rPr sz="1300" b="1" i="0">
                <a:solidFill>
                  <a:srgbClr val="2F3B52"/>
                </a:solidFill>
                <a:latin typeface="Segoe UI"/>
              </a:rPr>
              <a:t>Mobile application</a:t>
            </a:r>
            <a:r>
              <a:rPr sz="1200" b="0" i="0">
                <a:solidFill>
                  <a:srgbClr val="6B7690"/>
                </a:solidFill>
                <a:latin typeface="Segoe UI"/>
              </a:rPr>
              <a:t>   on-the-go evaluations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852160"/>
            <a:ext cx="11055096" cy="566928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98D8C8"/>
              </a:gs>
              <a:gs pos="100000">
                <a:srgbClr val="7EC8E3"/>
              </a:gs>
            </a:gsLst>
            <a:lin ang="27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6928" y="5852160"/>
            <a:ext cx="11055096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✓  </a:t>
            </a:r>
            <a:r>
              <a:rPr sz="1250" b="0" i="0">
                <a:solidFill>
                  <a:srgbClr val="FFFFFF"/>
                </a:solidFill>
                <a:latin typeface="Segoe UI"/>
              </a:rPr>
              <a:t>A complete, viva-ready system — delivered, tested and documented end-to-end.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3B5"/>
                </a:solidFill>
                <a:latin typeface="Segoe UI"/>
              </a:rPr>
              <a:t>SCHOLAR METRIC  ·  FINAL VIVA PRESENTATION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6473952"/>
            <a:ext cx="374903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3B5"/>
                </a:solidFill>
                <a:latin typeface="Segoe UI"/>
              </a:rPr>
              <a:t>Group F25PROJECT56B6C   ·   10 /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FAF8F4"/>
              </a:gs>
              <a:gs pos="100000">
                <a:srgbClr val="F1EEF7"/>
              </a:gs>
            </a:gsLst>
            <a:lin ang="63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875520" y="-1828800"/>
            <a:ext cx="5120640" cy="5120640"/>
          </a:xfrm>
          <a:prstGeom prst="ellipse">
            <a:avLst/>
          </a:prstGeom>
          <a:solidFill>
            <a:srgbClr val="7EC8E3">
              <a:alpha val="60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2011680" y="4937760"/>
            <a:ext cx="4206240" cy="4206240"/>
          </a:xfrm>
          <a:prstGeom prst="ellipse">
            <a:avLst/>
          </a:prstGeom>
          <a:solidFill>
            <a:srgbClr val="B8A7E0">
              <a:alpha val="60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863840" y="4937760"/>
            <a:ext cx="3108960" cy="3108960"/>
          </a:xfrm>
          <a:prstGeom prst="ellipse">
            <a:avLst/>
          </a:prstGeom>
          <a:solidFill>
            <a:srgbClr val="98D8C8">
              <a:alpha val="55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gradFill>
            <a:gsLst>
              <a:gs pos="0">
                <a:srgbClr val="7EC8E3"/>
              </a:gs>
              <a:gs pos="100000">
                <a:srgbClr val="B8A7E0"/>
              </a:gs>
            </a:gsLst>
            <a:lin ang="54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070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2F3B52"/>
                </a:solidFill>
                <a:latin typeface="Segoe UI"/>
              </a:rPr>
              <a:t>Thank You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7760" y="3291840"/>
            <a:ext cx="2286000" cy="64008"/>
          </a:xfrm>
          <a:prstGeom prst="rect">
            <a:avLst/>
          </a:prstGeom>
          <a:gradFill>
            <a:gsLst>
              <a:gs pos="0">
                <a:srgbClr val="7EC8E3"/>
              </a:gs>
              <a:gs pos="100000">
                <a:srgbClr val="B8A7E0"/>
              </a:gs>
            </a:gsLst>
            <a:lin ang="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3611880"/>
            <a:ext cx="10607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6B7690"/>
                </a:solidFill>
                <a:latin typeface="Segoe UI"/>
              </a:rPr>
              <a:t>Questions &amp; Discussion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61772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AA3B5"/>
                </a:solidFill>
                <a:latin typeface="Segoe UI"/>
              </a:rPr>
              <a:t>Muhammad Nouman  ·  BC220410458  ·  Virtual University of Pakistan  ·  Group F25PROJECT56B6C</a:t>
            </a:r>
          </a:p>
        </p:txBody>
      </p:sp>
      <p:sp>
        <p:nvSpPr>
          <p:cNvPr id="11" name="Oval 10"/>
          <p:cNvSpPr/>
          <p:nvPr/>
        </p:nvSpPr>
        <p:spPr>
          <a:xfrm>
            <a:off x="11109960" y="1691640"/>
            <a:ext cx="640080" cy="640080"/>
          </a:xfrm>
          <a:prstGeom prst="ellipse">
            <a:avLst/>
          </a:prstGeom>
          <a:solidFill>
            <a:srgbClr val="BFE0F0">
              <a:alpha val="100000"/>
            </a:srgbClr>
          </a:solidFill>
          <a:ln w="12700">
            <a:solidFill>
              <a:srgbClr val="7EC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109960" y="169164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D7EA6"/>
                </a:solidFill>
                <a:latin typeface="Segoe UI"/>
              </a:rPr>
              <a:t>🙏</a:t>
            </a:r>
          </a:p>
        </p:txBody>
      </p:sp>
      <p:sp>
        <p:nvSpPr>
          <p:cNvPr id="13" name="Oval 12"/>
          <p:cNvSpPr/>
          <p:nvPr/>
        </p:nvSpPr>
        <p:spPr>
          <a:xfrm>
            <a:off x="11247120" y="4206240"/>
            <a:ext cx="640080" cy="640080"/>
          </a:xfrm>
          <a:prstGeom prst="ellipse">
            <a:avLst/>
          </a:prstGeom>
          <a:solidFill>
            <a:srgbClr val="D9CEF2">
              <a:alpha val="100000"/>
            </a:srgbClr>
          </a:solidFill>
          <a:ln w="12700">
            <a:solidFill>
              <a:srgbClr val="B8A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247120" y="420624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7C6BB5"/>
                </a:solidFill>
                <a:latin typeface="Segoe UI"/>
              </a:rPr>
              <a:t>💬</a:t>
            </a:r>
          </a:p>
        </p:txBody>
      </p:sp>
      <p:sp>
        <p:nvSpPr>
          <p:cNvPr id="15" name="Oval 14"/>
          <p:cNvSpPr/>
          <p:nvPr/>
        </p:nvSpPr>
        <p:spPr>
          <a:xfrm>
            <a:off x="10012680" y="5212080"/>
            <a:ext cx="603504" cy="603504"/>
          </a:xfrm>
          <a:prstGeom prst="ellipse">
            <a:avLst/>
          </a:prstGeom>
          <a:solidFill>
            <a:srgbClr val="C8ECDF">
              <a:alpha val="100000"/>
            </a:srgbClr>
          </a:solidFill>
          <a:ln w="12700">
            <a:solidFill>
              <a:srgbClr val="98D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12680" y="5212080"/>
            <a:ext cx="603504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E9C88"/>
                </a:solidFill>
                <a:latin typeface="Segoe UI"/>
              </a:rPr>
              <a:t>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473952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3B5"/>
                </a:solidFill>
                <a:latin typeface="Segoe UI"/>
              </a:rPr>
              <a:t>SCHOLAR METRIC  ·  FINAL VIVA PRESENTATION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1331</Words>
  <Application>Microsoft Office PowerPoint</Application>
  <PresentationFormat>Widescreen</PresentationFormat>
  <Paragraphs>269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Muhammad Nouman</cp:lastModifiedBy>
  <cp:revision>4</cp:revision>
  <dcterms:created xsi:type="dcterms:W3CDTF">2013-01-27T09:14:16Z</dcterms:created>
  <dcterms:modified xsi:type="dcterms:W3CDTF">2026-09-07T08:27:41Z</dcterms:modified>
  <cp:category/>
</cp:coreProperties>
</file>