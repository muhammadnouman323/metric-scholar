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48" y="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435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Fade the title in with a gentle Zoom; let the pastel circles float slowly upward. Reveal the info block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Fade the three cards in one by one (left to right) with Float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Zoom the avatar, then fade each role card in sequentially; wipe the contribution strip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Reveal each problem row with a Float In; fade the lavender 'Why It Matters' panel in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Zoom each feature card in one at a time; wipe the BENEFITS strip from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Fade in the entity cards column by column, then draw the relationship lines with a Wipe. Keep this diagram as your final ERD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Animate the tier cards left to right with Float In, then reveal the data-flow chips and arrows sequentially.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5132-8717-B737-FFEB-900CC18F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8ABD8-C085-0033-ACC2-AC6663D76E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627A6-A209-E943-C97B-95E22D56E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Stagger the six cards with a gentle Fade / Zoom, row by row.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92E7-9168-CE83-0C58-340F19A37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93716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Stagger the six cards with a gentle Fade / Zoom, row by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Fade the feature cards in, then float the mockup in from the right. Replace the drawn mockup with real application screenshots before the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Fade the summary card in first, then the future improvements; wipe the bottom strip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Zoom the THANK YOU heading in, then fade in the subtitle and details. A gentle pulse on the decorative circles feels polished.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828800"/>
            <a:ext cx="5303520" cy="5303520"/>
          </a:xfrm>
          <a:prstGeom prst="ellipse">
            <a:avLst/>
          </a:prstGeom>
          <a:solidFill>
            <a:srgbClr val="7EC8E3">
              <a:alpha val="6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B8A7E0">
              <a:alpha val="6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680960" y="5120640"/>
            <a:ext cx="3108960" cy="3108960"/>
          </a:xfrm>
          <a:prstGeom prst="ellipse">
            <a:avLst/>
          </a:prstGeom>
          <a:solidFill>
            <a:srgbClr val="98D8C8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2651760"/>
            <a:ext cx="1097280" cy="1097280"/>
          </a:xfrm>
          <a:prstGeom prst="ellipse">
            <a:avLst/>
          </a:prstGeom>
          <a:solidFill>
            <a:srgbClr val="E8D9C4">
              <a:alpha val="7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658368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FINAL YEAR PROJECT · VIVA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78638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000" b="1" i="0">
                <a:solidFill>
                  <a:srgbClr val="2F3B52"/>
                </a:solidFill>
                <a:latin typeface="Segoe UI"/>
              </a:rPr>
              <a:t>SCHOLAR METRIC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6B7690"/>
                </a:solidFill>
                <a:latin typeface="Segoe UI"/>
              </a:rPr>
              <a:t>Next-Generation AI-Powered Student Feedback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B7690"/>
                </a:solidFill>
                <a:latin typeface="Segoe UI"/>
              </a:rPr>
              <a:t>&amp; Faculty Evaluation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57600"/>
            <a:ext cx="2743200" cy="64008"/>
          </a:xfrm>
          <a:prstGeom prst="rect">
            <a:avLst/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786384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 dirty="0">
                <a:solidFill>
                  <a:srgbClr val="3D7EA6"/>
                </a:solidFill>
                <a:latin typeface="Segoe UI"/>
              </a:rPr>
              <a:t>STUDENT</a:t>
            </a:r>
            <a:r>
              <a:rPr sz="1350" b="0" i="0" dirty="0">
                <a:solidFill>
                  <a:srgbClr val="4A5670"/>
                </a:solidFill>
                <a:latin typeface="Segoe UI"/>
              </a:rPr>
              <a:t>    Muhammad Nouman  ·  BC220410458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 dirty="0">
                <a:solidFill>
                  <a:srgbClr val="7C6BB5"/>
                </a:solidFill>
                <a:latin typeface="Segoe UI"/>
              </a:rPr>
              <a:t>SUPERVISOR</a:t>
            </a:r>
            <a:r>
              <a:rPr sz="1350" b="0" i="0" dirty="0">
                <a:solidFill>
                  <a:srgbClr val="4A5670"/>
                </a:solidFill>
                <a:latin typeface="Segoe UI"/>
              </a:rPr>
              <a:t>    Hafiz Wajahat Hashmi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 dirty="0">
                <a:solidFill>
                  <a:srgbClr val="4E9C88"/>
                </a:solidFill>
                <a:latin typeface="Segoe UI"/>
              </a:rPr>
              <a:t>UNIVERSITY</a:t>
            </a:r>
            <a:r>
              <a:rPr sz="1350" b="0" i="0" dirty="0">
                <a:solidFill>
                  <a:srgbClr val="4A5670"/>
                </a:solidFill>
                <a:latin typeface="Segoe UI"/>
              </a:rPr>
              <a:t>    Virtual University of Pakistan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1" i="0" dirty="0">
                <a:solidFill>
                  <a:srgbClr val="A98B63"/>
                </a:solidFill>
                <a:latin typeface="Segoe UI"/>
              </a:rPr>
              <a:t>GROUP</a:t>
            </a:r>
            <a:r>
              <a:rPr sz="1350" b="0" i="0" dirty="0">
                <a:solidFill>
                  <a:srgbClr val="4A5670"/>
                </a:solidFill>
                <a:latin typeface="Segoe UI"/>
              </a:rPr>
              <a:t>    F25PROJECT56B6C</a:t>
            </a:r>
          </a:p>
        </p:txBody>
      </p:sp>
      <p:sp>
        <p:nvSpPr>
          <p:cNvPr id="12" name="Oval 11"/>
          <p:cNvSpPr/>
          <p:nvPr/>
        </p:nvSpPr>
        <p:spPr>
          <a:xfrm>
            <a:off x="8915400" y="2331720"/>
            <a:ext cx="2743200" cy="2743200"/>
          </a:xfrm>
          <a:prstGeom prst="ellipse">
            <a:avLst/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2700000" scaled="1"/>
          </a:gradFill>
          <a:ln w="12700">
            <a:solidFill>
              <a:srgbClr val="7C6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15400" y="2331720"/>
            <a:ext cx="274320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Segoe UI"/>
              </a:rPr>
              <a:t>SM</a:t>
            </a:r>
          </a:p>
        </p:txBody>
      </p:sp>
      <p:sp>
        <p:nvSpPr>
          <p:cNvPr id="14" name="Oval 13"/>
          <p:cNvSpPr/>
          <p:nvPr/>
        </p:nvSpPr>
        <p:spPr>
          <a:xfrm>
            <a:off x="11155680" y="1554480"/>
            <a:ext cx="713232" cy="713232"/>
          </a:xfrm>
          <a:prstGeom prst="ellipse">
            <a:avLst/>
          </a:prstGeom>
          <a:solidFill>
            <a:srgbClr val="BFE0F0">
              <a:alpha val="100000"/>
            </a:srgbClr>
          </a:solidFill>
          <a:ln w="12700">
            <a:solidFill>
              <a:srgbClr val="7EC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0" y="155448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7EA6"/>
                </a:solidFill>
                <a:latin typeface="Segoe UI"/>
              </a:rPr>
              <a:t>🔒</a:t>
            </a:r>
          </a:p>
        </p:txBody>
      </p:sp>
      <p:sp>
        <p:nvSpPr>
          <p:cNvPr id="16" name="Oval 15"/>
          <p:cNvSpPr/>
          <p:nvPr/>
        </p:nvSpPr>
        <p:spPr>
          <a:xfrm>
            <a:off x="11338560" y="3931920"/>
            <a:ext cx="713232" cy="713232"/>
          </a:xfrm>
          <a:prstGeom prst="ellipse">
            <a:avLst/>
          </a:prstGeom>
          <a:solidFill>
            <a:srgbClr val="D9CEF2">
              <a:alpha val="100000"/>
            </a:srgbClr>
          </a:solidFill>
          <a:ln w="12700">
            <a:solidFill>
              <a:srgbClr val="B8A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0" y="39319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C6BB5"/>
                </a:solidFill>
                <a:latin typeface="Segoe UI"/>
              </a:rPr>
              <a:t>🤖</a:t>
            </a:r>
          </a:p>
        </p:txBody>
      </p:sp>
      <p:sp>
        <p:nvSpPr>
          <p:cNvPr id="18" name="Oval 17"/>
          <p:cNvSpPr/>
          <p:nvPr/>
        </p:nvSpPr>
        <p:spPr>
          <a:xfrm>
            <a:off x="10149840" y="5257800"/>
            <a:ext cx="658368" cy="658368"/>
          </a:xfrm>
          <a:prstGeom prst="ellipse">
            <a:avLst/>
          </a:prstGeom>
          <a:solidFill>
            <a:srgbClr val="C8ECDF">
              <a:alpha val="100000"/>
            </a:srgbClr>
          </a:solidFill>
          <a:ln w="12700">
            <a:solidFill>
              <a:srgbClr val="98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49840" y="52578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E9C88"/>
                </a:solidFill>
                <a:latin typeface="Segoe U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Virtual University of Pakistan ·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6BB5"/>
                </a:solidFill>
                <a:latin typeface="Segoe UI"/>
              </a:rPr>
              <a:t>PROJECT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3B52"/>
                </a:solidFill>
                <a:latin typeface="Segoe UI"/>
              </a:rPr>
              <a:t>Project 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B8A7E0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057400"/>
            <a:ext cx="3566160" cy="4114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057400"/>
            <a:ext cx="3566160" cy="109728"/>
          </a:xfrm>
          <a:prstGeom prst="rect">
            <a:avLst/>
          </a:prstGeom>
          <a:gradFill>
            <a:gsLst>
              <a:gs pos="0">
                <a:srgbClr val="7EC8E3"/>
              </a:gs>
              <a:gs pos="100000">
                <a:srgbClr val="BFE0F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95728"/>
            <a:ext cx="3108960" cy="361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3D7EA6"/>
                </a:solidFill>
                <a:latin typeface="Segoe UI"/>
              </a:rPr>
              <a:t>🧭  </a:t>
            </a:r>
            <a:r>
              <a:rPr sz="1600" b="1" i="0">
                <a:solidFill>
                  <a:srgbClr val="2F3B52"/>
                </a:solidFill>
                <a:latin typeface="Segoe UI"/>
              </a:rPr>
              <a:t>System Overview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Web-based, multi-tenant platform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Digitizes the full evaluation lifecycle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AI-moderated anonymous feedback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Role-based portals for Admin, Faculty &amp; 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057400"/>
            <a:ext cx="3566160" cy="4114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2057400"/>
            <a:ext cx="3566160" cy="109728"/>
          </a:xfrm>
          <a:prstGeom prst="rect">
            <a:avLst/>
          </a:prstGeom>
          <a:gradFill>
            <a:gsLst>
              <a:gs pos="0">
                <a:srgbClr val="B8A7E0"/>
              </a:gs>
              <a:gs pos="100000">
                <a:srgbClr val="D9CEF2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395728"/>
            <a:ext cx="3108960" cy="361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7C6BB5"/>
                </a:solidFill>
                <a:latin typeface="Segoe UI"/>
              </a:rPr>
              <a:t>🎯  </a:t>
            </a:r>
            <a:r>
              <a:rPr sz="1600" b="1" i="0">
                <a:solidFill>
                  <a:srgbClr val="2F3B52"/>
                </a:solidFill>
                <a:latin typeface="Segoe UI"/>
              </a:rPr>
              <a:t>Objective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7C6BB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Automate the manual paper-based workflow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7C6BB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Guarantee 100% student anonymity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7C6BB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AI content moderation &amp; comment cleaning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7C6BB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4A5670"/>
                </a:solidFill>
                <a:latin typeface="Segoe UI"/>
              </a:rPr>
              <a:t>Instant PDF / Excel report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057400"/>
            <a:ext cx="3566160" cy="4114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2057400"/>
            <a:ext cx="3566160" cy="109728"/>
          </a:xfrm>
          <a:prstGeom prst="rect">
            <a:avLst/>
          </a:prstGeom>
          <a:gradFill>
            <a:gsLst>
              <a:gs pos="0">
                <a:srgbClr val="98D8C8"/>
              </a:gs>
              <a:gs pos="100000">
                <a:srgbClr val="C8ECD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395728"/>
            <a:ext cx="3108960" cy="361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4E9C88"/>
                </a:solidFill>
                <a:latin typeface="Segoe UI"/>
              </a:rPr>
              <a:t>👥  </a:t>
            </a:r>
            <a:r>
              <a:rPr sz="1600" b="1" i="0">
                <a:solidFill>
                  <a:srgbClr val="2F3B52"/>
                </a:solidFill>
                <a:latin typeface="Segoe UI"/>
              </a:rPr>
              <a:t>Purpose &amp; Users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4E9C88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2F3B52"/>
                </a:solidFill>
                <a:latin typeface="Segoe UI"/>
              </a:rPr>
              <a:t>Students</a:t>
            </a:r>
            <a:r>
              <a:rPr sz="1350" b="0" i="0">
                <a:solidFill>
                  <a:srgbClr val="6B7690"/>
                </a:solidFill>
                <a:latin typeface="Segoe UI"/>
              </a:rPr>
              <a:t> — submit anonymous feedback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4E9C88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2F3B52"/>
                </a:solidFill>
                <a:latin typeface="Segoe UI"/>
              </a:rPr>
              <a:t>Faculty</a:t>
            </a:r>
            <a:r>
              <a:rPr sz="1350" b="0" i="0">
                <a:solidFill>
                  <a:srgbClr val="6B7690"/>
                </a:solidFill>
                <a:latin typeface="Segoe UI"/>
              </a:rPr>
              <a:t> — view feedback &amp; analytics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4E9C88"/>
                </a:solidFill>
                <a:latin typeface="Segoe UI"/>
              </a:rPr>
              <a:t>•  </a:t>
            </a:r>
            <a:r>
              <a:rPr sz="1350" b="1" i="0">
                <a:solidFill>
                  <a:srgbClr val="2F3B52"/>
                </a:solidFill>
                <a:latin typeface="Segoe UI"/>
              </a:rPr>
              <a:t>Admin</a:t>
            </a:r>
            <a:r>
              <a:rPr sz="1350" b="0" i="0">
                <a:solidFill>
                  <a:srgbClr val="6B7690"/>
                </a:solidFill>
                <a:latin typeface="Segoe UI"/>
              </a:rPr>
              <a:t> — manage evaluations &amp;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E9C88"/>
                </a:solidFill>
                <a:latin typeface="Segoe UI"/>
              </a:rPr>
              <a:t>GROUP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3B52"/>
                </a:solidFill>
                <a:latin typeface="Segoe UI"/>
              </a:rPr>
              <a:t>Group 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98D8C8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057400"/>
            <a:ext cx="11055096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2286000"/>
            <a:ext cx="914400" cy="914400"/>
          </a:xfrm>
          <a:prstGeom prst="ellipse">
            <a:avLst/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27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2860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MN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28600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2F3B52"/>
                </a:solidFill>
                <a:latin typeface="Segoe UI"/>
              </a:rPr>
              <a:t>Muhammad Nouman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690"/>
                </a:solidFill>
                <a:latin typeface="Segoe UI"/>
              </a:rPr>
              <a:t>Roll No: BC220410458   ·   Group ID: F25PROJECT56B6C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B5"/>
                </a:solidFill>
                <a:latin typeface="Segoe UI"/>
              </a:rPr>
              <a:t>Solo Developer — Full-Stack Design, Development &amp;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2624328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005072"/>
            <a:ext cx="2258568" cy="1545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3D7EA6"/>
                </a:solidFill>
                <a:latin typeface="Segoe UI"/>
              </a:rPr>
              <a:t>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3B52"/>
                </a:solidFill>
                <a:latin typeface="Segoe UI"/>
              </a:rPr>
              <a:t>System Architecture</a:t>
            </a:r>
            <a:r>
              <a:rPr sz="1400" b="0" i="0">
                <a:solidFill>
                  <a:srgbClr val="3D7EA6"/>
                </a:solidFill>
                <a:latin typeface="Segoe UI"/>
              </a:rPr>
              <a:t> &amp; Laravel Core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90"/>
                </a:solidFill>
                <a:latin typeface="Segoe UI"/>
              </a:rPr>
              <a:t>Multi-tenant design · RBAC · migrations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4136" y="3840480"/>
            <a:ext cx="2624328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57016" y="4005072"/>
            <a:ext cx="2258568" cy="1545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7C6BB5"/>
                </a:solidFill>
                <a:latin typeface="Segoe UI"/>
              </a:rPr>
              <a:t>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3B52"/>
                </a:solidFill>
                <a:latin typeface="Segoe UI"/>
              </a:rPr>
              <a:t>AI Moderation</a:t>
            </a:r>
            <a:r>
              <a:rPr sz="1400" b="0" i="0">
                <a:solidFill>
                  <a:srgbClr val="7C6BB5"/>
                </a:solidFill>
                <a:latin typeface="Segoe UI"/>
              </a:rPr>
              <a:t> &amp; Security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90"/>
                </a:solidFill>
                <a:latin typeface="Segoe UI"/>
              </a:rPr>
              <a:t>Toxicity engine · token cryptography · Sanctum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840480"/>
            <a:ext cx="2624328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4005072"/>
            <a:ext cx="2258568" cy="1545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4E9C88"/>
                </a:solidFill>
                <a:latin typeface="Segoe UI"/>
              </a:rPr>
              <a:t>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3B52"/>
                </a:solidFill>
                <a:latin typeface="Segoe UI"/>
              </a:rPr>
              <a:t>Frontend</a:t>
            </a:r>
            <a:r>
              <a:rPr sz="1400" b="0" i="0">
                <a:solidFill>
                  <a:srgbClr val="4E9C88"/>
                </a:solidFill>
                <a:latin typeface="Segoe UI"/>
              </a:rPr>
              <a:t> &amp; UX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90"/>
                </a:solidFill>
                <a:latin typeface="Segoe UI"/>
              </a:rPr>
              <a:t>Blade + Tailwind UI · responsive dashboards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3840480"/>
            <a:ext cx="2624328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71432" y="4005072"/>
            <a:ext cx="2258568" cy="1545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A98B63"/>
                </a:solidFill>
                <a:latin typeface="Segoe UI"/>
              </a:rPr>
              <a:t>🧪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3B52"/>
                </a:solidFill>
                <a:latin typeface="Segoe UI"/>
              </a:rPr>
              <a:t>QA</a:t>
            </a:r>
            <a:r>
              <a:rPr sz="1400" b="0" i="0">
                <a:solidFill>
                  <a:srgbClr val="A98B63"/>
                </a:solidFill>
                <a:latin typeface="Segoe UI"/>
              </a:rPr>
              <a:t> &amp; Reporting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690"/>
                </a:solidFill>
                <a:latin typeface="Segoe UI"/>
              </a:rPr>
              <a:t>Pest test suite · PDF / Excel exports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897880"/>
            <a:ext cx="11055096" cy="457200"/>
          </a:xfrm>
          <a:prstGeom prst="roundRect">
            <a:avLst>
              <a:gd name="adj" fmla="val 50000"/>
            </a:avLst>
          </a:prstGeom>
          <a:solidFill>
            <a:srgbClr val="F1E4D2"/>
          </a:solidFill>
          <a:ln w="12700">
            <a:solidFill>
              <a:srgbClr val="E8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9788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98B63"/>
                </a:solidFill>
                <a:latin typeface="Segoe UI"/>
              </a:rPr>
              <a:t>CONTRIBUTION  —  </a:t>
            </a:r>
            <a:r>
              <a:rPr sz="1150" b="0" i="0">
                <a:solidFill>
                  <a:srgbClr val="4A5670"/>
                </a:solidFill>
                <a:latin typeface="Segoe UI"/>
              </a:rPr>
              <a:t>Designed, built, tested and documented the complete system end-to-end.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8B63"/>
                </a:solidFill>
                <a:latin typeface="Segoe UI"/>
              </a:rPr>
              <a:t>BACKGROUND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F3B52"/>
                </a:solidFill>
                <a:latin typeface="Segoe UI"/>
              </a:rPr>
              <a:t>Background of 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E8D9C4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057400"/>
            <a:ext cx="66751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2176272"/>
            <a:ext cx="512064" cy="512064"/>
          </a:xfrm>
          <a:prstGeom prst="ellipse">
            <a:avLst/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1762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057400"/>
            <a:ext cx="5577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3B52"/>
                </a:solidFill>
                <a:latin typeface="Segoe UI"/>
              </a:rPr>
              <a:t>Manual &amp; Paper-Based Process  —  </a:t>
            </a:r>
            <a:r>
              <a:rPr sz="1250" b="0" i="0">
                <a:solidFill>
                  <a:srgbClr val="6B7690"/>
                </a:solidFill>
                <a:latin typeface="Segoe UI"/>
              </a:rPr>
              <a:t>Printed forms, high cost, slow collection &amp;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53512"/>
            <a:ext cx="66751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072384"/>
            <a:ext cx="512064" cy="512064"/>
          </a:xfrm>
          <a:prstGeom prst="ellipse">
            <a:avLst/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07238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53512"/>
            <a:ext cx="5577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3B52"/>
                </a:solidFill>
                <a:latin typeface="Segoe UI"/>
              </a:rPr>
              <a:t>Fear of Non-Anonymity  —  </a:t>
            </a:r>
            <a:r>
              <a:rPr sz="1250" b="0" i="0">
                <a:solidFill>
                  <a:srgbClr val="6B7690"/>
                </a:solidFill>
                <a:latin typeface="Segoe UI"/>
              </a:rPr>
              <a:t>Students withhold honest reviews, fearing retaliation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49624"/>
            <a:ext cx="66751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3968496"/>
            <a:ext cx="512064" cy="512064"/>
          </a:xfrm>
          <a:prstGeom prst="ellipse">
            <a:avLst/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96849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849624"/>
            <a:ext cx="5577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3B52"/>
                </a:solidFill>
                <a:latin typeface="Segoe UI"/>
              </a:rPr>
              <a:t>Unfiltered &amp; Toxic Remarks  —  </a:t>
            </a:r>
            <a:r>
              <a:rPr sz="1250" b="0" i="0">
                <a:solidFill>
                  <a:srgbClr val="6B7690"/>
                </a:solidFill>
                <a:latin typeface="Segoe UI"/>
              </a:rPr>
              <a:t>Abusive comments undermine fairness and morale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45736"/>
            <a:ext cx="66751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4864607"/>
            <a:ext cx="512064" cy="512064"/>
          </a:xfrm>
          <a:prstGeom prst="ellipse">
            <a:avLst/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864607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745736"/>
            <a:ext cx="5577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3B52"/>
                </a:solidFill>
                <a:latin typeface="Segoe UI"/>
              </a:rPr>
              <a:t>No Actionable Analytics  —  </a:t>
            </a:r>
            <a:r>
              <a:rPr sz="1250" b="0" i="0">
                <a:solidFill>
                  <a:srgbClr val="6B7690"/>
                </a:solidFill>
                <a:latin typeface="Segoe UI"/>
              </a:rPr>
              <a:t>Paper tallies give averages, not meaningful insight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641848"/>
            <a:ext cx="667512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5760720"/>
            <a:ext cx="512064" cy="512064"/>
          </a:xfrm>
          <a:prstGeom prst="ellipse">
            <a:avLst/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641848"/>
            <a:ext cx="5577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3B52"/>
                </a:solidFill>
                <a:latin typeface="Segoe UI"/>
              </a:rPr>
              <a:t>Manual Coordination  —  </a:t>
            </a:r>
            <a:r>
              <a:rPr sz="1250" b="0" i="0">
                <a:solidFill>
                  <a:srgbClr val="6B7690"/>
                </a:solidFill>
                <a:latin typeface="Segoe UI"/>
              </a:rPr>
              <a:t>Reminders &amp; result compilation consume staff hours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2057400"/>
            <a:ext cx="3813048" cy="4279392"/>
          </a:xfrm>
          <a:prstGeom prst="roundRect">
            <a:avLst>
              <a:gd name="adj" fmla="val 7000"/>
            </a:avLst>
          </a:prstGeom>
          <a:solidFill>
            <a:srgbClr val="D9CEF2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2331720"/>
            <a:ext cx="3300984" cy="3730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7C6BB5"/>
                </a:solidFill>
                <a:latin typeface="Segoe UI"/>
              </a:rPr>
              <a:t>⭐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7C6BB5"/>
                </a:solidFill>
                <a:latin typeface="Segoe UI"/>
              </a:rPr>
              <a:t>WHY IT MATTERS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7C6BB5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4A5670"/>
                </a:solidFill>
                <a:latin typeface="Segoe UI"/>
              </a:rPr>
              <a:t>Universities need a scalable, trustworthy, data-driven evaluation system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7C6BB5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4A5670"/>
                </a:solidFill>
                <a:latin typeface="Segoe UI"/>
              </a:rPr>
              <a:t>Stakeholders need safe, honest and real-time feedback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7C6BB5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4A5670"/>
                </a:solidFill>
                <a:latin typeface="Segoe UI"/>
              </a:rPr>
              <a:t>Academic quality improvement depends on actionable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D7EA6"/>
                </a:solidFill>
                <a:latin typeface="Segoe UI"/>
              </a:rPr>
              <a:t>SOLUTION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F3B52"/>
                </a:solidFill>
                <a:latin typeface="Segoe UI"/>
              </a:rPr>
              <a:t>Solution of 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057400"/>
            <a:ext cx="54406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057400"/>
            <a:ext cx="5440680" cy="91440"/>
          </a:xfrm>
          <a:prstGeom prst="rect">
            <a:avLst/>
          </a:prstGeom>
          <a:gradFill>
            <a:gsLst>
              <a:gs pos="0">
                <a:srgbClr val="7EC8E3"/>
              </a:gs>
              <a:gs pos="100000">
                <a:srgbClr val="BFE0F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4028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D7EA6"/>
                </a:solidFill>
                <a:latin typeface="Segoe UI"/>
              </a:rPr>
              <a:t>🔒  </a:t>
            </a:r>
            <a:r>
              <a:rPr sz="1500" b="1" i="0">
                <a:solidFill>
                  <a:srgbClr val="2F3B52"/>
                </a:solidFill>
                <a:latin typeface="Segoe UI"/>
              </a:rPr>
              <a:t>Tokenized Single-Use Anonymity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690"/>
                </a:solidFill>
                <a:latin typeface="Segoe UI"/>
              </a:rPr>
              <a:t>Cryptographic feedback_tokens prove eligibility — no student identity is ever linked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057400"/>
            <a:ext cx="54406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4" y="2057400"/>
            <a:ext cx="5440680" cy="91440"/>
          </a:xfrm>
          <a:prstGeom prst="rect">
            <a:avLst/>
          </a:prstGeom>
          <a:gradFill>
            <a:gsLst>
              <a:gs pos="0">
                <a:srgbClr val="B8A7E0"/>
              </a:gs>
              <a:gs pos="100000">
                <a:srgbClr val="D9CEF2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224028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C6BB5"/>
                </a:solidFill>
                <a:latin typeface="Segoe UI"/>
              </a:rPr>
              <a:t>🤖  </a:t>
            </a:r>
            <a:r>
              <a:rPr sz="1500" b="1" i="0">
                <a:solidFill>
                  <a:srgbClr val="2F3B52"/>
                </a:solidFill>
                <a:latin typeface="Segoe UI"/>
              </a:rPr>
              <a:t>AI Moderation &amp; Toxicity Scoring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690"/>
                </a:solidFill>
                <a:latin typeface="Segoe UI"/>
              </a:rPr>
              <a:t>Real-time toxicity scoring, profanity cleaning and a flagged review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23360"/>
            <a:ext cx="54406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23360"/>
            <a:ext cx="5440680" cy="91440"/>
          </a:xfrm>
          <a:prstGeom prst="rect">
            <a:avLst/>
          </a:prstGeom>
          <a:gradFill>
            <a:gsLst>
              <a:gs pos="0">
                <a:srgbClr val="98D8C8"/>
              </a:gs>
              <a:gs pos="100000">
                <a:srgbClr val="C8ECD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20624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E9C88"/>
                </a:solidFill>
                <a:latin typeface="Segoe UI"/>
              </a:rPr>
              <a:t>⚡  </a:t>
            </a:r>
            <a:r>
              <a:rPr sz="1500" b="1" i="0">
                <a:solidFill>
                  <a:srgbClr val="2F3B52"/>
                </a:solidFill>
                <a:latin typeface="Segoe UI"/>
              </a:rPr>
              <a:t>3-Step Automated Evaluation Builder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690"/>
                </a:solidFill>
                <a:latin typeface="Segoe UI"/>
              </a:rPr>
              <a:t>Configure metadata → assign faculty &amp; courses → one-click publish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4023360"/>
            <a:ext cx="54406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1344" y="4023360"/>
            <a:ext cx="5440680" cy="91440"/>
          </a:xfrm>
          <a:prstGeom prst="rect">
            <a:avLst/>
          </a:prstGeom>
          <a:gradFill>
            <a:gsLst>
              <a:gs pos="0">
                <a:srgbClr val="E8D9C4"/>
              </a:gs>
              <a:gs pos="100000">
                <a:srgbClr val="F1E4D2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20624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A98B63"/>
                </a:solidFill>
                <a:latin typeface="Segoe UI"/>
              </a:rPr>
              <a:t>📈  </a:t>
            </a:r>
            <a:r>
              <a:rPr sz="1500" b="1" i="0">
                <a:solidFill>
                  <a:srgbClr val="2F3B52"/>
                </a:solidFill>
                <a:latin typeface="Segoe UI"/>
              </a:rPr>
              <a:t>Role-Tailored Dashboards &amp; Reports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690"/>
                </a:solidFill>
                <a:latin typeface="Segoe UI"/>
              </a:rPr>
              <a:t>Clean student forms, faculty analytics and admin reports with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6035040"/>
            <a:ext cx="11055096" cy="5669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27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03504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BENEFITS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  Saves cost &amp; time  ·  Honest feedback  ·  Safe comments  ·  Data-driven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6BB5"/>
                </a:solidFill>
                <a:latin typeface="Segoe UI"/>
              </a:rPr>
              <a:t>DATABASE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3B52"/>
                </a:solidFill>
                <a:latin typeface="Segoe UI"/>
              </a:rPr>
              <a:t>Database 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B8A7E0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1920240" cy="82296"/>
          </a:xfrm>
          <a:prstGeom prst="rect">
            <a:avLst/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19" y="2221991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universities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2606039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id · 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1031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08960" y="2103120"/>
            <a:ext cx="1920240" cy="82296"/>
          </a:xfrm>
          <a:prstGeom prst="rect">
            <a:avLst/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221991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departments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06039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id · university_id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1031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77840" y="2103120"/>
            <a:ext cx="1920240" cy="82296"/>
          </a:xfrm>
          <a:prstGeom prst="rect">
            <a:avLst/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79" y="2221991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courses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2606039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id · department_id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10312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2103120"/>
            <a:ext cx="1920240" cy="82296"/>
          </a:xfrm>
          <a:prstGeom prst="rect">
            <a:avLst/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2221991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606039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id · role · university_id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1480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4114800"/>
            <a:ext cx="1920240" cy="82296"/>
          </a:xfrm>
          <a:prstGeom prst="rect">
            <a:avLst/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19" y="42336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evaluations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" y="461772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id · created_by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411480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08960" y="4114800"/>
            <a:ext cx="1920240" cy="82296"/>
          </a:xfrm>
          <a:prstGeom prst="rect">
            <a:avLst/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0" y="42336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feedback_tokens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61772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token · is_used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411480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77840" y="4114800"/>
            <a:ext cx="1920240" cy="82296"/>
          </a:xfrm>
          <a:prstGeom prst="rect">
            <a:avLst/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79" y="42336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feedbacks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79" y="461772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evaluation_id · faculty_id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114800"/>
            <a:ext cx="19202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4114800"/>
            <a:ext cx="1920240" cy="82296"/>
          </a:xfrm>
          <a:prstGeom prst="rect">
            <a:avLst/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0" y="42336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feedback_answers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61772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rating · comment · ai_score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560320" y="2606039"/>
            <a:ext cx="548640" cy="0"/>
          </a:xfrm>
          <a:prstGeom prst="line">
            <a:avLst/>
          </a:prstGeom>
          <a:ln w="19050">
            <a:solidFill>
              <a:srgbClr val="3D7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29200" y="2606039"/>
            <a:ext cx="548640" cy="0"/>
          </a:xfrm>
          <a:prstGeom prst="line">
            <a:avLst/>
          </a:prstGeom>
          <a:ln w="19050">
            <a:solidFill>
              <a:srgbClr val="4E9C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98079" y="2606039"/>
            <a:ext cx="548641" cy="0"/>
          </a:xfrm>
          <a:prstGeom prst="line">
            <a:avLst/>
          </a:prstGeom>
          <a:ln w="19050">
            <a:solidFill>
              <a:srgbClr val="7C6B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60320" y="4617720"/>
            <a:ext cx="548640" cy="0"/>
          </a:xfrm>
          <a:prstGeom prst="line">
            <a:avLst/>
          </a:prstGeom>
          <a:ln w="19050">
            <a:solidFill>
              <a:srgbClr val="4E9C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29200" y="4617720"/>
            <a:ext cx="548640" cy="0"/>
          </a:xfrm>
          <a:prstGeom prst="line">
            <a:avLst/>
          </a:prstGeom>
          <a:ln w="19050">
            <a:solidFill>
              <a:srgbClr val="3D7E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98079" y="4617720"/>
            <a:ext cx="548641" cy="0"/>
          </a:xfrm>
          <a:prstGeom prst="line">
            <a:avLst/>
          </a:prstGeom>
          <a:ln w="19050">
            <a:solidFill>
              <a:srgbClr val="A98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583680" y="3108960"/>
            <a:ext cx="1920240" cy="1005840"/>
          </a:xfrm>
          <a:prstGeom prst="line">
            <a:avLst/>
          </a:prstGeom>
          <a:ln w="19050">
            <a:solidFill>
              <a:srgbClr val="7C6B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514600" y="228600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D7EA6"/>
                </a:solidFill>
                <a:latin typeface="Segoe UI"/>
              </a:rPr>
              <a:t>1 — 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83480" y="228600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E9C88"/>
                </a:solidFill>
                <a:latin typeface="Segoe UI"/>
              </a:rPr>
              <a:t>1 — 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228600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6BB5"/>
                </a:solidFill>
                <a:latin typeface="Segoe UI"/>
              </a:rPr>
              <a:t>M — 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4600" y="42976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E9C88"/>
                </a:solidFill>
                <a:latin typeface="Segoe UI"/>
              </a:rPr>
              <a:t>1 — 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42976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D7EA6"/>
                </a:solidFill>
                <a:latin typeface="Segoe UI"/>
              </a:rPr>
              <a:t>1 — 1 · isolated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42976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98B63"/>
                </a:solidFill>
                <a:latin typeface="Segoe UI"/>
              </a:rPr>
              <a:t>1 — 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31012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6BB5"/>
                </a:solidFill>
                <a:latin typeface="Segoe UI"/>
              </a:rPr>
              <a:t>submits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5532120"/>
            <a:ext cx="11055096" cy="566928"/>
          </a:xfrm>
          <a:prstGeom prst="roundRect">
            <a:avLst>
              <a:gd name="adj" fmla="val 30000"/>
            </a:avLst>
          </a:prstGeom>
          <a:solidFill>
            <a:srgbClr val="F1E4D2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7240" y="553212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8B63"/>
                </a:solidFill>
                <a:latin typeface="Segoe UI"/>
              </a:rPr>
              <a:t>🔑  KEY DESIGN — </a:t>
            </a:r>
            <a:r>
              <a:rPr sz="1100" b="0" i="0">
                <a:solidFill>
                  <a:srgbClr val="4A5670"/>
                </a:solidFill>
                <a:latin typeface="Segoe UI"/>
              </a:rPr>
              <a:t>Token Isolation: the token verifies eligibility; feedback is stored with zero student linkage. Pivot tables (course_user, evaluation_courses) map the M—N relations.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E9C88"/>
                </a:solidFill>
                <a:latin typeface="Segoe UI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3B52"/>
                </a:solidFill>
                <a:latin typeface="Segoe UI"/>
              </a:rPr>
              <a:t>System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98D8C8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25603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103120"/>
            <a:ext cx="2560320" cy="82296"/>
          </a:xfrm>
          <a:prstGeom prst="rect">
            <a:avLst/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2194560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3D7EA6"/>
                </a:solidFill>
                <a:latin typeface="Segoe UI"/>
              </a:rPr>
              <a:t>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F3B52"/>
                </a:solidFill>
                <a:latin typeface="Segoe UI"/>
              </a:rPr>
              <a:t>Client / Presentation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90"/>
                </a:solidFill>
                <a:latin typeface="Segoe UI"/>
              </a:rPr>
              <a:t>Browser · Blade + Tailwind v4 · Vite + Alpine.js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27248" y="2994660"/>
            <a:ext cx="228600" cy="0"/>
          </a:xfrm>
          <a:prstGeom prst="line">
            <a:avLst/>
          </a:prstGeom>
          <a:ln w="25400">
            <a:solidFill>
              <a:srgbClr val="3D7E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55848" y="2103120"/>
            <a:ext cx="25603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55848" y="2103120"/>
            <a:ext cx="2560320" cy="82296"/>
          </a:xfrm>
          <a:prstGeom prst="rect">
            <a:avLst/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8728" y="2249424"/>
            <a:ext cx="2194560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7C6BB5"/>
                </a:solidFill>
                <a:latin typeface="Segoe UI"/>
              </a:rPr>
              <a:t>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F3B52"/>
                </a:solidFill>
                <a:latin typeface="Segoe UI"/>
              </a:rPr>
              <a:t>Application / Routing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90"/>
                </a:solidFill>
                <a:latin typeface="Segoe UI"/>
              </a:rPr>
              <a:t>Laravel 13 · PHP 8.4 · Sanctum Auth · RBAC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16168" y="2994660"/>
            <a:ext cx="228600" cy="0"/>
          </a:xfrm>
          <a:prstGeom prst="line">
            <a:avLst/>
          </a:prstGeom>
          <a:ln w="25400">
            <a:solidFill>
              <a:srgbClr val="7C6B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44768" y="2103120"/>
            <a:ext cx="25603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2560320" cy="82296"/>
          </a:xfrm>
          <a:prstGeom prst="rect">
            <a:avLst/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2249424"/>
            <a:ext cx="2194560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4E9C88"/>
                </a:solidFill>
                <a:latin typeface="Segoe UI"/>
              </a:rPr>
              <a:t>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F3B52"/>
                </a:solidFill>
                <a:latin typeface="Segoe UI"/>
              </a:rPr>
              <a:t>Business &amp; AI Layer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90"/>
                </a:solidFill>
                <a:latin typeface="Segoe UI"/>
              </a:rPr>
              <a:t>Evaluation manager · token engine · AI moderation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05088" y="2994660"/>
            <a:ext cx="228600" cy="0"/>
          </a:xfrm>
          <a:prstGeom prst="line">
            <a:avLst/>
          </a:prstGeom>
          <a:ln w="25400">
            <a:solidFill>
              <a:srgbClr val="4E9C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33688" y="2103120"/>
            <a:ext cx="25603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33688" y="2103120"/>
            <a:ext cx="2560320" cy="82296"/>
          </a:xfrm>
          <a:prstGeom prst="rect">
            <a:avLst/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16567" y="2249424"/>
            <a:ext cx="2194560" cy="1490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98B63"/>
                </a:solidFill>
                <a:latin typeface="Segoe UI"/>
              </a:rPr>
              <a:t>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F3B52"/>
                </a:solidFill>
                <a:latin typeface="Segoe UI"/>
              </a:rPr>
              <a:t>Persistence / Data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90"/>
                </a:solidFill>
                <a:latin typeface="Segoe UI"/>
              </a:rPr>
              <a:t>MySQL · Eloquent ORM · asset storage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494008" y="2994660"/>
            <a:ext cx="228600" cy="0"/>
          </a:xfrm>
          <a:prstGeom prst="line">
            <a:avLst/>
          </a:prstGeom>
          <a:ln w="25400">
            <a:solidFill>
              <a:srgbClr val="A98B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" y="4160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3B52"/>
                </a:solidFill>
                <a:latin typeface="Segoe UI"/>
              </a:rPr>
              <a:t>📡  DATA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26280"/>
            <a:ext cx="18288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636008"/>
            <a:ext cx="1645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Request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routes &amp; middleware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95728" y="4983480"/>
            <a:ext cx="457200" cy="0"/>
          </a:xfrm>
          <a:prstGeom prst="line">
            <a:avLst/>
          </a:prstGeom>
          <a:ln w="25400">
            <a:solidFill>
              <a:srgbClr val="9AA3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52928" y="4526280"/>
            <a:ext cx="18288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44368" y="4636008"/>
            <a:ext cx="1645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Auth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Sanctum + RBAC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81728" y="4983480"/>
            <a:ext cx="457200" cy="0"/>
          </a:xfrm>
          <a:prstGeom prst="line">
            <a:avLst/>
          </a:prstGeom>
          <a:ln w="25400">
            <a:solidFill>
              <a:srgbClr val="9AA3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138928" y="4526280"/>
            <a:ext cx="18288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4636008"/>
            <a:ext cx="1645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Process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services + AI moderation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67728" y="4983480"/>
            <a:ext cx="457200" cy="0"/>
          </a:xfrm>
          <a:prstGeom prst="line">
            <a:avLst/>
          </a:prstGeom>
          <a:ln w="25400">
            <a:solidFill>
              <a:srgbClr val="9AA3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24928" y="4526280"/>
            <a:ext cx="18288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16368" y="4636008"/>
            <a:ext cx="1645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Data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Eloquent ↔ MySQL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53728" y="4983480"/>
            <a:ext cx="457200" cy="0"/>
          </a:xfrm>
          <a:prstGeom prst="line">
            <a:avLst/>
          </a:prstGeom>
          <a:ln w="25400">
            <a:solidFill>
              <a:srgbClr val="9AA3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710928" y="4526280"/>
            <a:ext cx="18288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02368" y="4636008"/>
            <a:ext cx="16459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3B52"/>
                </a:solidFill>
                <a:latin typeface="Segoe UI"/>
              </a:rPr>
              <a:t>Render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Blade UI 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690"/>
                </a:solidFill>
                <a:latin typeface="Segoe UI"/>
              </a:rPr>
              <a:t>Browser → Laravel routing → role middleware → services (token engine, AI moderation) → Eloquent ↔ MySQL → rendered Blade response.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4580-E231-D238-73EE-A4F895C0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4D77B3-9106-2C36-9AC8-5F9F1B07E6D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8A2AE6-EBAE-A917-EDF4-DDAC5E9493A2}"/>
              </a:ext>
            </a:extLst>
          </p:cNvPr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9242DB5-42FC-53B9-C412-591D0E1A7012}"/>
              </a:ext>
            </a:extLst>
          </p:cNvPr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4B19F7-138C-AF53-E76A-2910C4450891}"/>
              </a:ext>
            </a:extLst>
          </p:cNvPr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4E9A2E-D2AC-878F-6127-7552203AA954}"/>
              </a:ext>
            </a:extLst>
          </p:cNvPr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0F18C-1E06-042D-F303-A1497CAA9817}"/>
              </a:ext>
            </a:extLst>
          </p:cNvPr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54A6F-94BC-A285-11F5-8D53D33188A9}"/>
              </a:ext>
            </a:extLst>
          </p:cNvPr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8B63"/>
                </a:solidFill>
                <a:latin typeface="Segoe UI"/>
              </a:rPr>
              <a:t>TECHNOLOGY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24B21-BA39-623A-8DF3-431DE5FF40F7}"/>
              </a:ext>
            </a:extLst>
          </p:cNvPr>
          <p:cNvSpPr txBox="1"/>
          <p:nvPr/>
        </p:nvSpPr>
        <p:spPr>
          <a:xfrm>
            <a:off x="579396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2F3B52"/>
                </a:solidFill>
                <a:latin typeface="Segoe UI"/>
              </a:rPr>
              <a:t>Technology Stack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8B3D7F-30D3-187B-4FA4-EF44ED92DB1C}"/>
              </a:ext>
            </a:extLst>
          </p:cNvPr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E8D9C4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854F4A-F8BD-0F2C-4C00-7B26BB83FDFB}"/>
              </a:ext>
            </a:extLst>
          </p:cNvPr>
          <p:cNvSpPr/>
          <p:nvPr/>
        </p:nvSpPr>
        <p:spPr>
          <a:xfrm>
            <a:off x="421105" y="1882223"/>
            <a:ext cx="3557016" cy="40630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21655-BEA3-A474-24D2-66D8F10F24F4}"/>
              </a:ext>
            </a:extLst>
          </p:cNvPr>
          <p:cNvSpPr txBox="1"/>
          <p:nvPr/>
        </p:nvSpPr>
        <p:spPr>
          <a:xfrm>
            <a:off x="289491" y="2110117"/>
            <a:ext cx="3469174" cy="3549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3200" b="1" i="0" dirty="0">
                <a:solidFill>
                  <a:srgbClr val="3D7EA6"/>
                </a:solidFill>
                <a:latin typeface="Segoe UI"/>
              </a:rPr>
              <a:t>  </a:t>
            </a:r>
            <a:r>
              <a:rPr sz="3200" b="1" i="0" dirty="0">
                <a:solidFill>
                  <a:srgbClr val="2F3B52"/>
                </a:solidFill>
                <a:latin typeface="Segoe UI"/>
              </a:rPr>
              <a:t>Frontend</a:t>
            </a:r>
            <a:endParaRPr lang="en-US" sz="3200" b="1" i="0" dirty="0">
              <a:solidFill>
                <a:srgbClr val="2F3B52"/>
              </a:solidFill>
              <a:latin typeface="Segoe UI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endParaRPr sz="3200" b="1" i="0" dirty="0">
              <a:solidFill>
                <a:srgbClr val="2F3B52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0" i="0" dirty="0">
                <a:solidFill>
                  <a:srgbClr val="6B7690"/>
                </a:solidFill>
                <a:latin typeface="Segoe UI"/>
              </a:rPr>
              <a:t>		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Blade templates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6B7690"/>
                </a:solidFill>
                <a:latin typeface="Segoe UI"/>
              </a:rPr>
              <a:t>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	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Tailwind CSS v4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6B7690"/>
                </a:solidFill>
                <a:latin typeface="Segoe UI"/>
              </a:rPr>
              <a:t> </a:t>
            </a: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	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Vite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6B7690"/>
                </a:solidFill>
                <a:latin typeface="Segoe UI"/>
              </a:rPr>
              <a:t>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	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Alpine.js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789001-9B74-6515-773F-FA145469871E}"/>
              </a:ext>
            </a:extLst>
          </p:cNvPr>
          <p:cNvSpPr/>
          <p:nvPr/>
        </p:nvSpPr>
        <p:spPr>
          <a:xfrm>
            <a:off x="4251210" y="1862296"/>
            <a:ext cx="3557016" cy="40630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71EFB-BDE7-6CEF-4243-0153424CA581}"/>
              </a:ext>
            </a:extLst>
          </p:cNvPr>
          <p:cNvSpPr txBox="1"/>
          <p:nvPr/>
        </p:nvSpPr>
        <p:spPr>
          <a:xfrm>
            <a:off x="4385643" y="2058546"/>
            <a:ext cx="3244226" cy="3549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lang="en-US" sz="3200" b="1" i="0" dirty="0">
                <a:solidFill>
                  <a:srgbClr val="7C6BB5"/>
                </a:solidFill>
                <a:latin typeface="Segoe UI"/>
              </a:rPr>
              <a:t> </a:t>
            </a:r>
            <a:r>
              <a:rPr sz="3200" b="1" i="0" dirty="0">
                <a:solidFill>
                  <a:srgbClr val="7C6BB5"/>
                </a:solidFill>
                <a:latin typeface="Segoe UI"/>
              </a:rPr>
              <a:t> </a:t>
            </a:r>
            <a:r>
              <a:rPr lang="en-US" sz="3200" b="1" i="0" dirty="0">
                <a:solidFill>
                  <a:srgbClr val="2F3B52"/>
                </a:solidFill>
                <a:latin typeface="Segoe UI"/>
              </a:rPr>
              <a:t>Ba</a:t>
            </a:r>
            <a:r>
              <a:rPr sz="3200" b="1" i="0" dirty="0">
                <a:solidFill>
                  <a:srgbClr val="2F3B52"/>
                </a:solidFill>
                <a:latin typeface="Segoe UI"/>
              </a:rPr>
              <a:t>ckend</a:t>
            </a:r>
            <a:endParaRPr lang="en-US" sz="3200" b="1" i="0" dirty="0">
              <a:solidFill>
                <a:srgbClr val="2F3B52"/>
              </a:solidFill>
              <a:latin typeface="Segoe UI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endParaRPr sz="3200" b="1" i="0" dirty="0">
              <a:solidFill>
                <a:srgbClr val="2F3B52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PHP 8.4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6B7690"/>
                </a:solidFill>
                <a:latin typeface="Segoe UI"/>
              </a:rPr>
              <a:t>·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Laravel 13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6B7690"/>
                </a:solidFill>
                <a:latin typeface="Segoe UI"/>
              </a:rPr>
              <a:t>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Eloquent ORM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Artisan CLI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662F948-C5AF-D180-E160-7528AFA17796}"/>
              </a:ext>
            </a:extLst>
          </p:cNvPr>
          <p:cNvSpPr/>
          <p:nvPr/>
        </p:nvSpPr>
        <p:spPr>
          <a:xfrm>
            <a:off x="8046719" y="1862296"/>
            <a:ext cx="3557016" cy="412383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7AB5A-FD6E-3A6A-E8C3-AB3AE0D7C237}"/>
              </a:ext>
            </a:extLst>
          </p:cNvPr>
          <p:cNvSpPr txBox="1"/>
          <p:nvPr/>
        </p:nvSpPr>
        <p:spPr>
          <a:xfrm>
            <a:off x="8246517" y="2130278"/>
            <a:ext cx="3118104" cy="34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3200" b="1" i="0" dirty="0">
                <a:solidFill>
                  <a:srgbClr val="4E9C88"/>
                </a:solidFill>
                <a:latin typeface="Segoe UI"/>
              </a:rPr>
              <a:t>  </a:t>
            </a:r>
            <a:r>
              <a:rPr sz="3200" b="1" i="0" dirty="0">
                <a:solidFill>
                  <a:srgbClr val="2F3B52"/>
                </a:solidFill>
                <a:latin typeface="Segoe UI"/>
              </a:rPr>
              <a:t>Database</a:t>
            </a:r>
            <a:endParaRPr lang="en-US" sz="3200" b="1" i="0" dirty="0">
              <a:solidFill>
                <a:srgbClr val="2F3B52"/>
              </a:solidFill>
              <a:latin typeface="Segoe UI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endParaRPr sz="3200" b="1" i="0" dirty="0">
              <a:solidFill>
                <a:srgbClr val="2F3B52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MySQL</a:t>
            </a:r>
            <a:r>
              <a:rPr sz="1250" b="0" i="0" dirty="0">
                <a:solidFill>
                  <a:srgbClr val="6B7690"/>
                </a:solidFill>
                <a:latin typeface="Segoe UI"/>
              </a:rPr>
              <a:t> </a:t>
            </a:r>
            <a:endParaRPr lang="en-US" sz="125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125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lang="en-US" sz="2000" dirty="0">
                <a:solidFill>
                  <a:srgbClr val="6B7690"/>
                </a:solidFill>
                <a:latin typeface="Segoe UI"/>
              </a:rPr>
              <a:t>M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igrations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6B7690"/>
                </a:solidFill>
                <a:latin typeface="Segoe UI"/>
              </a:rPr>
              <a:t>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lang="en-US" sz="2000" dirty="0">
                <a:solidFill>
                  <a:srgbClr val="6B7690"/>
                </a:solidFill>
                <a:latin typeface="Segoe UI"/>
              </a:rPr>
              <a:t>S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eeders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lang="en-US" sz="2000" dirty="0">
                <a:solidFill>
                  <a:srgbClr val="6B7690"/>
                </a:solidFill>
                <a:latin typeface="Segoe UI"/>
              </a:rPr>
              <a:t>F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actories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D31AE4-7F7D-70D0-177E-87A31E26DD65}"/>
              </a:ext>
            </a:extLst>
          </p:cNvPr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E39E7F-08FE-8877-7A5D-A6A97ACB1659}"/>
              </a:ext>
            </a:extLst>
          </p:cNvPr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8 / 11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1571DA-E3E9-6C32-F73F-230FB7B96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58" y="3041164"/>
            <a:ext cx="775671" cy="775671"/>
          </a:xfrm>
          <a:prstGeom prst="rect">
            <a:avLst/>
          </a:prstGeom>
        </p:spPr>
      </p:pic>
      <p:pic>
        <p:nvPicPr>
          <p:cNvPr id="27" name="Picture 26" descr="Tailwind Css Fill icon - Free Download PNG &amp; SVG | Streamline">
            <a:extLst>
              <a:ext uri="{FF2B5EF4-FFF2-40B4-BE49-F238E27FC236}">
                <a16:creationId xmlns:a16="http://schemas.microsoft.com/office/drawing/2014/main" id="{6643E93E-0321-BFB1-EADE-66E03AC3B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82" y="3826123"/>
            <a:ext cx="629845" cy="629845"/>
          </a:xfrm>
          <a:prstGeom prst="rect">
            <a:avLst/>
          </a:prstGeom>
        </p:spPr>
      </p:pic>
      <p:pic>
        <p:nvPicPr>
          <p:cNvPr id="28" name="Picture 27" descr="Vite.js SVG and transparent PNG icons | TechIcons">
            <a:extLst>
              <a:ext uri="{FF2B5EF4-FFF2-40B4-BE49-F238E27FC236}">
                <a16:creationId xmlns:a16="http://schemas.microsoft.com/office/drawing/2014/main" id="{9DD5B6E7-14B5-50DE-8D24-6B83862BB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17" y="4560000"/>
            <a:ext cx="549711" cy="549711"/>
          </a:xfrm>
          <a:prstGeom prst="rect">
            <a:avLst/>
          </a:prstGeom>
        </p:spPr>
      </p:pic>
      <p:pic>
        <p:nvPicPr>
          <p:cNvPr id="29" name="Picture 28" descr="Alpine.js SVG and transparent PNG icons | TechIcons">
            <a:extLst>
              <a:ext uri="{FF2B5EF4-FFF2-40B4-BE49-F238E27FC236}">
                <a16:creationId xmlns:a16="http://schemas.microsoft.com/office/drawing/2014/main" id="{446993D2-6AB6-C57F-DF4E-DBA981B02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454" y="5153195"/>
            <a:ext cx="690775" cy="690775"/>
          </a:xfrm>
          <a:prstGeom prst="rect">
            <a:avLst/>
          </a:prstGeom>
        </p:spPr>
      </p:pic>
      <p:pic>
        <p:nvPicPr>
          <p:cNvPr id="30" name="Picture 29" descr="File:PHP-logo.svg - Wikimedia Commons">
            <a:extLst>
              <a:ext uri="{FF2B5EF4-FFF2-40B4-BE49-F238E27FC236}">
                <a16:creationId xmlns:a16="http://schemas.microsoft.com/office/drawing/2014/main" id="{DB90A3C5-67B3-1210-8033-D61E9C66A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490" y="3235601"/>
            <a:ext cx="575983" cy="310791"/>
          </a:xfrm>
          <a:prstGeom prst="rect">
            <a:avLst/>
          </a:prstGeom>
        </p:spPr>
      </p:pic>
      <p:pic>
        <p:nvPicPr>
          <p:cNvPr id="31" name="Picture 30" descr="File:Laravel.svg - Wikimedia Commons">
            <a:extLst>
              <a:ext uri="{FF2B5EF4-FFF2-40B4-BE49-F238E27FC236}">
                <a16:creationId xmlns:a16="http://schemas.microsoft.com/office/drawing/2014/main" id="{01799175-A2BE-7C08-6D38-CB3DFCD8E4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5354" y="3753088"/>
            <a:ext cx="532119" cy="553736"/>
          </a:xfrm>
          <a:prstGeom prst="rect">
            <a:avLst/>
          </a:prstGeom>
        </p:spPr>
      </p:pic>
      <p:pic>
        <p:nvPicPr>
          <p:cNvPr id="32" name="Picture 31" descr="Command Line Interface Icons - Free SVG &amp; PNG Command Line Interface Images  - Noun Project">
            <a:extLst>
              <a:ext uri="{FF2B5EF4-FFF2-40B4-BE49-F238E27FC236}">
                <a16:creationId xmlns:a16="http://schemas.microsoft.com/office/drawing/2014/main" id="{F65BD8EB-B9DD-9E77-F4F2-8585085A1F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6695" y="5170039"/>
            <a:ext cx="532421" cy="532421"/>
          </a:xfrm>
          <a:prstGeom prst="rect">
            <a:avLst/>
          </a:prstGeom>
        </p:spPr>
      </p:pic>
      <p:pic>
        <p:nvPicPr>
          <p:cNvPr id="33" name="Picture 32" descr="6 Laravel Eloquent Secrets to improve your code - Laravel News">
            <a:extLst>
              <a:ext uri="{FF2B5EF4-FFF2-40B4-BE49-F238E27FC236}">
                <a16:creationId xmlns:a16="http://schemas.microsoft.com/office/drawing/2014/main" id="{8215AA64-8399-DF51-1E93-9D905E0D6B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4623133" y="4560000"/>
            <a:ext cx="575983" cy="409906"/>
          </a:xfrm>
          <a:prstGeom prst="rect">
            <a:avLst/>
          </a:prstGeom>
        </p:spPr>
      </p:pic>
      <p:pic>
        <p:nvPicPr>
          <p:cNvPr id="35" name="Picture 34" descr="Mysql Icon &amp; Logo | Dashboard Icons &amp; Logos">
            <a:extLst>
              <a:ext uri="{FF2B5EF4-FFF2-40B4-BE49-F238E27FC236}">
                <a16:creationId xmlns:a16="http://schemas.microsoft.com/office/drawing/2014/main" id="{344B13B0-83F1-4FD4-736A-97F9F1CD28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5866" y="3122258"/>
            <a:ext cx="558619" cy="558619"/>
          </a:xfrm>
          <a:prstGeom prst="rect">
            <a:avLst/>
          </a:prstGeom>
        </p:spPr>
      </p:pic>
      <p:pic>
        <p:nvPicPr>
          <p:cNvPr id="36" name="Picture 35" descr="Laravel Migration guide – Skynet Technologies">
            <a:extLst>
              <a:ext uri="{FF2B5EF4-FFF2-40B4-BE49-F238E27FC236}">
                <a16:creationId xmlns:a16="http://schemas.microsoft.com/office/drawing/2014/main" id="{BA2FF662-3EDA-3648-9313-DD5B1BB441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4679" y="3812206"/>
            <a:ext cx="640402" cy="480301"/>
          </a:xfrm>
          <a:prstGeom prst="rect">
            <a:avLst/>
          </a:prstGeom>
        </p:spPr>
      </p:pic>
      <p:pic>
        <p:nvPicPr>
          <p:cNvPr id="37" name="Picture 36" descr="Laravel Seeders: A Comprehensive Guide | by Cleyton Bonamigo | Medium">
            <a:extLst>
              <a:ext uri="{FF2B5EF4-FFF2-40B4-BE49-F238E27FC236}">
                <a16:creationId xmlns:a16="http://schemas.microsoft.com/office/drawing/2014/main" id="{A55BB5F5-12FC-2364-E035-67F7C27012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9876" y="4423814"/>
            <a:ext cx="587597" cy="440697"/>
          </a:xfrm>
          <a:prstGeom prst="rect">
            <a:avLst/>
          </a:prstGeom>
        </p:spPr>
      </p:pic>
      <p:pic>
        <p:nvPicPr>
          <p:cNvPr id="38" name="Picture 37" descr="Laravel Icon SVG Vector &amp; PNG Free Download | UXWing">
            <a:extLst>
              <a:ext uri="{FF2B5EF4-FFF2-40B4-BE49-F238E27FC236}">
                <a16:creationId xmlns:a16="http://schemas.microsoft.com/office/drawing/2014/main" id="{8A1717F1-0DDB-1678-3E4C-89F9669876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7071" y="5088719"/>
            <a:ext cx="640402" cy="440697"/>
          </a:xfrm>
          <a:prstGeom prst="rect">
            <a:avLst/>
          </a:prstGeom>
        </p:spPr>
      </p:pic>
      <p:pic>
        <p:nvPicPr>
          <p:cNvPr id="25" name="Picture 24" descr="Backend - Free seo and web icons">
            <a:extLst>
              <a:ext uri="{FF2B5EF4-FFF2-40B4-BE49-F238E27FC236}">
                <a16:creationId xmlns:a16="http://schemas.microsoft.com/office/drawing/2014/main" id="{2083FB31-043F-4FAF-1FB0-8D1E34E1CD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38889" y="1914058"/>
            <a:ext cx="934860" cy="934860"/>
          </a:xfrm>
          <a:prstGeom prst="rect">
            <a:avLst/>
          </a:prstGeom>
        </p:spPr>
      </p:pic>
      <p:pic>
        <p:nvPicPr>
          <p:cNvPr id="34" name="Picture 33" descr="Frontend - Free seo and web icons">
            <a:extLst>
              <a:ext uri="{FF2B5EF4-FFF2-40B4-BE49-F238E27FC236}">
                <a16:creationId xmlns:a16="http://schemas.microsoft.com/office/drawing/2014/main" id="{111B7936-AA68-CC9E-E0C9-41D25A66F58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604" y="1950067"/>
            <a:ext cx="855700" cy="855700"/>
          </a:xfrm>
          <a:prstGeom prst="rect">
            <a:avLst/>
          </a:prstGeom>
        </p:spPr>
      </p:pic>
      <p:pic>
        <p:nvPicPr>
          <p:cNvPr id="39" name="Picture 38" descr="Database DB Icon SVG Vector &amp; PNG Free Download | UXWing">
            <a:extLst>
              <a:ext uri="{FF2B5EF4-FFF2-40B4-BE49-F238E27FC236}">
                <a16:creationId xmlns:a16="http://schemas.microsoft.com/office/drawing/2014/main" id="{63F2284D-72A9-A689-449F-59327D7004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69412" y="2024522"/>
            <a:ext cx="715468" cy="86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1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8B63"/>
                </a:solidFill>
                <a:latin typeface="Segoe UI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3B52"/>
                </a:solidFill>
                <a:latin typeface="Segoe UI"/>
              </a:rPr>
              <a:t>Technology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E8D9C4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2151246"/>
            <a:ext cx="3557016" cy="367348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2451795"/>
            <a:ext cx="3118104" cy="31886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400" b="1" i="0" dirty="0">
                <a:solidFill>
                  <a:srgbClr val="A98B63"/>
                </a:solidFill>
                <a:latin typeface="Segoe UI"/>
              </a:rPr>
              <a:t>🔐  </a:t>
            </a:r>
            <a:r>
              <a:rPr sz="2400" b="1" i="0" dirty="0">
                <a:solidFill>
                  <a:srgbClr val="2F3B52"/>
                </a:solidFill>
                <a:latin typeface="Segoe UI"/>
              </a:rPr>
              <a:t>Security &amp; Auth</a:t>
            </a:r>
            <a:endParaRPr lang="en-US" sz="2400" b="1" i="0" dirty="0">
              <a:solidFill>
                <a:srgbClr val="2F3B5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Sanctum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lang="en-US" sz="2000" dirty="0">
                <a:solidFill>
                  <a:srgbClr val="6B7690"/>
                </a:solidFill>
                <a:latin typeface="Segoe UI"/>
              </a:rPr>
              <a:t>R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ole-based access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6B7690"/>
                </a:solidFill>
                <a:latin typeface="Segoe UI"/>
              </a:rPr>
              <a:t>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CSRF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lang="en-US" sz="2000" dirty="0">
                <a:solidFill>
                  <a:srgbClr val="6B7690"/>
                </a:solidFill>
                <a:latin typeface="Segoe UI"/>
              </a:rPr>
              <a:t>T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oken hashing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6824" y="2151246"/>
            <a:ext cx="3557016" cy="367348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571999" y="2430177"/>
            <a:ext cx="3118104" cy="2268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400" b="1" i="0" dirty="0">
                <a:solidFill>
                  <a:srgbClr val="3D7EA6"/>
                </a:solidFill>
                <a:latin typeface="Segoe UI"/>
              </a:rPr>
              <a:t>🤖  </a:t>
            </a:r>
            <a:r>
              <a:rPr sz="2400" b="1" i="0" dirty="0">
                <a:solidFill>
                  <a:srgbClr val="2F3B52"/>
                </a:solidFill>
                <a:latin typeface="Segoe UI"/>
              </a:rPr>
              <a:t>AI Moderation</a:t>
            </a:r>
            <a:endParaRPr lang="en-US" sz="2400" b="1" i="0" dirty="0">
              <a:solidFill>
                <a:srgbClr val="2F3B52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endParaRPr sz="2400" b="1" i="0" dirty="0">
              <a:solidFill>
                <a:srgbClr val="2F3B5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Real-time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6B7690"/>
                </a:solidFill>
                <a:latin typeface="Segoe UI"/>
              </a:rPr>
              <a:t>	T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oxicity scoring &amp; </a:t>
            </a: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comment cleaning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2079498"/>
            <a:ext cx="3557016" cy="373011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7512" y="2304770"/>
            <a:ext cx="3289664" cy="3992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400" b="1" i="0" dirty="0">
                <a:solidFill>
                  <a:srgbClr val="7C6BB5"/>
                </a:solidFill>
                <a:latin typeface="Segoe UI"/>
              </a:rPr>
              <a:t>🧪  </a:t>
            </a:r>
            <a:r>
              <a:rPr sz="2400" b="1" i="0" dirty="0">
                <a:solidFill>
                  <a:srgbClr val="2F3B52"/>
                </a:solidFill>
                <a:latin typeface="Segoe UI"/>
              </a:rPr>
              <a:t>Testing &amp; Tools</a:t>
            </a:r>
            <a:endParaRPr lang="en-US" sz="2400" b="1" i="0" dirty="0">
              <a:solidFill>
                <a:srgbClr val="2F3B52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endParaRPr sz="2400" b="1" i="0" dirty="0">
              <a:solidFill>
                <a:srgbClr val="2F3B52"/>
              </a:solidFill>
              <a:latin typeface="Segoe UI"/>
            </a:endParaRPr>
          </a:p>
          <a:p>
            <a:pPr>
              <a:lnSpc>
                <a:spcPct val="112000"/>
              </a:lnSpc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Pest v4 </a:t>
            </a: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		</a:t>
            </a:r>
            <a:r>
              <a:rPr lang="en-US" sz="2000" dirty="0">
                <a:solidFill>
                  <a:srgbClr val="6B7690"/>
                </a:solidFill>
                <a:latin typeface="Segoe UI"/>
              </a:rPr>
              <a:t>VS Code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Pint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Git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r>
              <a:rPr lang="en-US" sz="2000" dirty="0">
                <a:solidFill>
                  <a:srgbClr val="6B7690"/>
                </a:solidFill>
                <a:latin typeface="Segoe UI"/>
              </a:rPr>
              <a:t>Ubuntu</a:t>
            </a:r>
            <a:r>
              <a:rPr sz="2000" b="0" i="0" dirty="0">
                <a:solidFill>
                  <a:srgbClr val="6B7690"/>
                </a:solidFill>
                <a:latin typeface="Segoe UI"/>
              </a:rPr>
              <a:t> </a:t>
            </a:r>
            <a:endParaRPr lang="en-US" sz="2000" b="0" i="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6B7690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6B7690"/>
                </a:solidFill>
                <a:latin typeface="Segoe UI"/>
              </a:rPr>
              <a:t>	</a:t>
            </a:r>
            <a:endParaRPr sz="2000" b="0" i="0" dirty="0">
              <a:solidFill>
                <a:srgbClr val="6B7690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8 / 11</a:t>
            </a:r>
          </a:p>
        </p:txBody>
      </p:sp>
      <p:pic>
        <p:nvPicPr>
          <p:cNvPr id="39" name="Picture 38" descr="Laravel Sanctum Install and Login and Register">
            <a:extLst>
              <a:ext uri="{FF2B5EF4-FFF2-40B4-BE49-F238E27FC236}">
                <a16:creationId xmlns:a16="http://schemas.microsoft.com/office/drawing/2014/main" id="{FBB1F79B-3966-ABA7-86AA-4DB615D31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3209697"/>
            <a:ext cx="516055" cy="493470"/>
          </a:xfrm>
          <a:prstGeom prst="rect">
            <a:avLst/>
          </a:prstGeom>
        </p:spPr>
      </p:pic>
      <p:pic>
        <p:nvPicPr>
          <p:cNvPr id="41" name="Picture 40" descr="Role Icon - Role Based Access Control Icon - (395x411) Png Clipart Download">
            <a:extLst>
              <a:ext uri="{FF2B5EF4-FFF2-40B4-BE49-F238E27FC236}">
                <a16:creationId xmlns:a16="http://schemas.microsoft.com/office/drawing/2014/main" id="{B40CC9A5-F83F-9A12-AFEF-017AAE917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811045"/>
            <a:ext cx="624719" cy="650024"/>
          </a:xfrm>
          <a:prstGeom prst="rect">
            <a:avLst/>
          </a:prstGeom>
        </p:spPr>
      </p:pic>
      <p:pic>
        <p:nvPicPr>
          <p:cNvPr id="42" name="Picture 41" descr="Laravel CSRF: что это и способы защиты">
            <a:extLst>
              <a:ext uri="{FF2B5EF4-FFF2-40B4-BE49-F238E27FC236}">
                <a16:creationId xmlns:a16="http://schemas.microsoft.com/office/drawing/2014/main" id="{BC5F1D17-903C-7E8B-4C3B-B542A93BE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9" y="4617790"/>
            <a:ext cx="490702" cy="368026"/>
          </a:xfrm>
          <a:prstGeom prst="rect">
            <a:avLst/>
          </a:prstGeom>
        </p:spPr>
      </p:pic>
      <p:pic>
        <p:nvPicPr>
          <p:cNvPr id="43" name="Picture 42" descr="Hashing - Free social media icons">
            <a:extLst>
              <a:ext uri="{FF2B5EF4-FFF2-40B4-BE49-F238E27FC236}">
                <a16:creationId xmlns:a16="http://schemas.microsoft.com/office/drawing/2014/main" id="{A2F89E41-B80E-B509-0607-9B62E90C9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45" y="5187323"/>
            <a:ext cx="609604" cy="609604"/>
          </a:xfrm>
          <a:prstGeom prst="rect">
            <a:avLst/>
          </a:prstGeom>
        </p:spPr>
      </p:pic>
      <p:pic>
        <p:nvPicPr>
          <p:cNvPr id="44" name="Picture 43" descr="Real time - Free icons">
            <a:extLst>
              <a:ext uri="{FF2B5EF4-FFF2-40B4-BE49-F238E27FC236}">
                <a16:creationId xmlns:a16="http://schemas.microsoft.com/office/drawing/2014/main" id="{FAD1976B-C3D7-62C8-4F76-493EF3937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205231"/>
            <a:ext cx="595233" cy="595233"/>
          </a:xfrm>
          <a:prstGeom prst="rect">
            <a:avLst/>
          </a:prstGeom>
        </p:spPr>
      </p:pic>
      <p:pic>
        <p:nvPicPr>
          <p:cNvPr id="45" name="Picture 44" descr="Toxicity - Free industry icons">
            <a:extLst>
              <a:ext uri="{FF2B5EF4-FFF2-40B4-BE49-F238E27FC236}">
                <a16:creationId xmlns:a16="http://schemas.microsoft.com/office/drawing/2014/main" id="{4755E455-E8BC-6609-A91B-85388C7007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262" y="4028949"/>
            <a:ext cx="595234" cy="59523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B0A7513-8BA3-CB4F-C428-184C9523E7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0368" y="3138080"/>
            <a:ext cx="526976" cy="526976"/>
          </a:xfrm>
          <a:prstGeom prst="rect">
            <a:avLst/>
          </a:prstGeom>
        </p:spPr>
      </p:pic>
      <p:pic>
        <p:nvPicPr>
          <p:cNvPr id="47" name="Picture 46" descr="Laravel Pint Formatter - Visual Studio Marketplace">
            <a:extLst>
              <a:ext uri="{FF2B5EF4-FFF2-40B4-BE49-F238E27FC236}">
                <a16:creationId xmlns:a16="http://schemas.microsoft.com/office/drawing/2014/main" id="{D1229CBA-9C06-58C9-600B-460A5E92E4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3220" y="3806088"/>
            <a:ext cx="540759" cy="540759"/>
          </a:xfrm>
          <a:prstGeom prst="rect">
            <a:avLst/>
          </a:prstGeom>
        </p:spPr>
      </p:pic>
      <p:pic>
        <p:nvPicPr>
          <p:cNvPr id="48" name="Picture 47" descr="File:Git-icon-black.svg - Wikimedia Commons">
            <a:extLst>
              <a:ext uri="{FF2B5EF4-FFF2-40B4-BE49-F238E27FC236}">
                <a16:creationId xmlns:a16="http://schemas.microsoft.com/office/drawing/2014/main" id="{CA5340F5-D778-3571-C85B-9CA5873D8E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3220" y="4477468"/>
            <a:ext cx="540759" cy="540759"/>
          </a:xfrm>
          <a:prstGeom prst="rect">
            <a:avLst/>
          </a:prstGeom>
        </p:spPr>
      </p:pic>
      <p:pic>
        <p:nvPicPr>
          <p:cNvPr id="49" name="Picture 48" descr="Ubuntu Color Icon SVG Vector &amp; PNG Free Download | UXWing">
            <a:extLst>
              <a:ext uri="{FF2B5EF4-FFF2-40B4-BE49-F238E27FC236}">
                <a16:creationId xmlns:a16="http://schemas.microsoft.com/office/drawing/2014/main" id="{3EE91856-11BC-149F-8E59-77F58FFD01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3220" y="5134765"/>
            <a:ext cx="554124" cy="554124"/>
          </a:xfrm>
          <a:prstGeom prst="rect">
            <a:avLst/>
          </a:prstGeom>
        </p:spPr>
      </p:pic>
      <p:pic>
        <p:nvPicPr>
          <p:cNvPr id="50" name="Picture 49" descr="Visual Studio Code Icon SVG Vector &amp; PNG Free Download | UXWing">
            <a:extLst>
              <a:ext uri="{FF2B5EF4-FFF2-40B4-BE49-F238E27FC236}">
                <a16:creationId xmlns:a16="http://schemas.microsoft.com/office/drawing/2014/main" id="{92261BFE-77C6-3071-9FFE-F850FCA0DE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1692" y="3062588"/>
            <a:ext cx="602468" cy="6024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D7EA6"/>
                </a:solidFill>
                <a:latin typeface="Segoe UI"/>
              </a:rPr>
              <a:t>MAIN FUNCTIONALITY &amp; USER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F3B52"/>
                </a:solidFill>
                <a:latin typeface="Segoe UI"/>
              </a:rPr>
              <a:t>Main Functionality &amp; User Interfaces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057400"/>
            <a:ext cx="31089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03704"/>
            <a:ext cx="2724912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D7EA6"/>
                </a:solidFill>
                <a:latin typeface="Segoe UI"/>
              </a:rPr>
              <a:t>🔐  </a:t>
            </a:r>
            <a:r>
              <a:rPr sz="1250" b="1" i="0">
                <a:solidFill>
                  <a:srgbClr val="2F3B52"/>
                </a:solidFill>
                <a:latin typeface="Segoe UI"/>
              </a:rPr>
              <a:t>Role-Based Login &amp; Dashboards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90"/>
                </a:solidFill>
                <a:latin typeface="Segoe UI"/>
              </a:rPr>
              <a:t>Auto-routing to Admin, Faculty &amp; Student portals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057400"/>
            <a:ext cx="31089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95928" y="2203704"/>
            <a:ext cx="2724912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7C6BB5"/>
                </a:solidFill>
                <a:latin typeface="Segoe UI"/>
              </a:rPr>
              <a:t>⚙  </a:t>
            </a:r>
            <a:r>
              <a:rPr sz="1250" b="1" i="0">
                <a:solidFill>
                  <a:srgbClr val="2F3B52"/>
                </a:solidFill>
                <a:latin typeface="Segoe UI"/>
              </a:rPr>
              <a:t>3-Step Evaluation Builder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90"/>
                </a:solidFill>
                <a:latin typeface="Segoe UI"/>
              </a:rPr>
              <a:t>Setup → assign faculty/courses → publish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94760"/>
            <a:ext cx="31089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3941064"/>
            <a:ext cx="2724912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4E9C88"/>
                </a:solidFill>
                <a:latin typeface="Segoe UI"/>
              </a:rPr>
              <a:t>🛡  </a:t>
            </a:r>
            <a:r>
              <a:rPr sz="1250" b="1" i="0">
                <a:solidFill>
                  <a:srgbClr val="2F3B52"/>
                </a:solidFill>
                <a:latin typeface="Segoe UI"/>
              </a:rPr>
              <a:t>AI Moderation Panel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90"/>
                </a:solidFill>
                <a:latin typeface="Segoe UI"/>
              </a:rPr>
              <a:t>Toxicity scores, flagged &amp; cleaned comments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794760"/>
            <a:ext cx="310896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9C4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95928" y="3941064"/>
            <a:ext cx="2724912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A98B63"/>
                </a:solidFill>
                <a:latin typeface="Segoe UI"/>
              </a:rPr>
              <a:t>📑  </a:t>
            </a:r>
            <a:r>
              <a:rPr sz="1250" b="1" i="0">
                <a:solidFill>
                  <a:srgbClr val="2F3B52"/>
                </a:solidFill>
                <a:latin typeface="Segoe UI"/>
              </a:rPr>
              <a:t>Reports &amp; Export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90"/>
                </a:solidFill>
                <a:latin typeface="Segoe UI"/>
              </a:rPr>
              <a:t>Printable PDF &amp; Excel evaluation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205740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69480" y="2057400"/>
            <a:ext cx="4343400" cy="402336"/>
          </a:xfrm>
          <a:prstGeom prst="roundRect">
            <a:avLst>
              <a:gd name="adj" fmla="val 6000"/>
            </a:avLst>
          </a:prstGeom>
          <a:solidFill>
            <a:srgbClr val="EFEDE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34072" y="2185416"/>
            <a:ext cx="146304" cy="146304"/>
          </a:xfrm>
          <a:prstGeom prst="ellipse">
            <a:avLst/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671816" y="2185416"/>
            <a:ext cx="146304" cy="146304"/>
          </a:xfrm>
          <a:prstGeom prst="ellipse">
            <a:avLst/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09560" y="2185416"/>
            <a:ext cx="146304" cy="146304"/>
          </a:xfrm>
          <a:prstGeom prst="ellipse">
            <a:avLst/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2157984"/>
            <a:ext cx="22860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215798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690"/>
                </a:solidFill>
                <a:latin typeface="Segoe UI"/>
              </a:rPr>
              <a:t>scholarmetric.app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2459736"/>
            <a:ext cx="1051560" cy="3026664"/>
          </a:xfrm>
          <a:prstGeom prst="rect">
            <a:avLst/>
          </a:prstGeom>
          <a:solidFill>
            <a:srgbClr val="F6F4E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60920" y="2569464"/>
            <a:ext cx="868680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7EC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60920" y="2569464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D7EA6"/>
                </a:solidFill>
                <a:latin typeface="Segoe UI"/>
              </a:rP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2953512"/>
            <a:ext cx="868680" cy="292608"/>
          </a:xfrm>
          <a:prstGeom prst="roundRect">
            <a:avLst>
              <a:gd name="adj" fmla="val 30000"/>
            </a:avLst>
          </a:prstGeom>
          <a:solidFill>
            <a:srgbClr val="F6F4EF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2953512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90"/>
                </a:solidFill>
                <a:latin typeface="Segoe UI"/>
              </a:rPr>
              <a:t>Evaluations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3337560"/>
            <a:ext cx="868680" cy="292608"/>
          </a:xfrm>
          <a:prstGeom prst="roundRect">
            <a:avLst>
              <a:gd name="adj" fmla="val 30000"/>
            </a:avLst>
          </a:prstGeom>
          <a:solidFill>
            <a:srgbClr val="F6F4EF"/>
          </a:solidFill>
          <a:ln w="9525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333756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690"/>
                </a:solidFill>
                <a:latin typeface="Segoe UI"/>
              </a:rPr>
              <a:t>Reports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2624328"/>
            <a:ext cx="1371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0" y="2679192"/>
            <a:ext cx="118872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3D7EA6"/>
                </a:solidFill>
                <a:latin typeface="Segoe UI"/>
              </a:rPr>
              <a:t>124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90"/>
                </a:solidFill>
                <a:latin typeface="Segoe UI"/>
              </a:rPr>
              <a:t>Evaluations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2624328"/>
            <a:ext cx="1371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A7E0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19488" y="2679192"/>
            <a:ext cx="118872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7C6BB5"/>
                </a:solidFill>
                <a:latin typeface="Segoe UI"/>
              </a:rPr>
              <a:t>89%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90"/>
                </a:solidFill>
                <a:latin typeface="Segoe UI"/>
              </a:rPr>
              <a:t>Response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52176" y="2624328"/>
            <a:ext cx="1371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43616" y="2679192"/>
            <a:ext cx="1188720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4E9C88"/>
                </a:solidFill>
                <a:latin typeface="Segoe UI"/>
              </a:rPr>
              <a:t>312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90"/>
                </a:solidFill>
                <a:latin typeface="Segoe UI"/>
              </a:rPr>
              <a:t>Feedbacks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67928" y="4023359"/>
            <a:ext cx="365760" cy="457200"/>
          </a:xfrm>
          <a:prstGeom prst="roundRect">
            <a:avLst>
              <a:gd name="adj" fmla="val 12000"/>
            </a:avLst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171432" y="3749039"/>
            <a:ext cx="365760" cy="731520"/>
          </a:xfrm>
          <a:prstGeom prst="roundRect">
            <a:avLst>
              <a:gd name="adj" fmla="val 12000"/>
            </a:avLst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74936" y="3913631"/>
            <a:ext cx="365760" cy="566928"/>
          </a:xfrm>
          <a:prstGeom prst="roundRect">
            <a:avLst>
              <a:gd name="adj" fmla="val 12000"/>
            </a:avLst>
          </a:prstGeom>
          <a:solidFill>
            <a:srgbClr val="98D8C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378440" y="3657599"/>
            <a:ext cx="365760" cy="822960"/>
          </a:xfrm>
          <a:prstGeom prst="roundRect">
            <a:avLst>
              <a:gd name="adj" fmla="val 12000"/>
            </a:avLst>
          </a:prstGeom>
          <a:solidFill>
            <a:srgbClr val="E8D9C4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981944" y="3840479"/>
            <a:ext cx="365760" cy="640080"/>
          </a:xfrm>
          <a:prstGeom prst="roundRect">
            <a:avLst>
              <a:gd name="adj" fmla="val 12000"/>
            </a:avLst>
          </a:prstGeom>
          <a:solidFill>
            <a:srgbClr val="7EC8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8503920" y="4434840"/>
            <a:ext cx="2971800" cy="0"/>
          </a:xfrm>
          <a:prstGeom prst="line">
            <a:avLst/>
          </a:prstGeom>
          <a:ln w="15875">
            <a:solidFill>
              <a:srgbClr val="D9D5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03920" y="33375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F3B52"/>
                </a:solidFill>
                <a:latin typeface="Segoe UI"/>
              </a:rPr>
              <a:t>Feedback per course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5577840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Sample — Admin Dashboard (replace with real screenshots)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806440"/>
            <a:ext cx="11055096" cy="457200"/>
          </a:xfrm>
          <a:prstGeom prst="roundRect">
            <a:avLst>
              <a:gd name="adj" fmla="val 50000"/>
            </a:avLst>
          </a:prstGeom>
          <a:solidFill>
            <a:srgbClr val="D9CEF2"/>
          </a:solidFill>
          <a:ln w="12700">
            <a:solidFill>
              <a:srgbClr val="B8A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580644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6BB5"/>
                </a:solidFill>
                <a:latin typeface="Segoe UI"/>
              </a:rPr>
              <a:t>OTHER SCREENS</a:t>
            </a:r>
            <a:r>
              <a:rPr sz="1150" b="0" i="0">
                <a:solidFill>
                  <a:srgbClr val="4A5670"/>
                </a:solidFill>
                <a:latin typeface="Segoe UI"/>
              </a:rPr>
              <a:t>    Login · Student Feedback Form · Faculty Analytics · Moderation Panel · Reports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4206240" cy="4206240"/>
          </a:xfrm>
          <a:prstGeom prst="ellipse">
            <a:avLst/>
          </a:prstGeom>
          <a:solidFill>
            <a:srgbClr val="7EC8E3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5394960"/>
            <a:ext cx="3840480" cy="3840480"/>
          </a:xfrm>
          <a:prstGeom prst="ellipse">
            <a:avLst/>
          </a:prstGeom>
          <a:solidFill>
            <a:srgbClr val="B8A7E0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8240" y="5303520"/>
            <a:ext cx="2926080" cy="2926080"/>
          </a:xfrm>
          <a:prstGeom prst="ellipse">
            <a:avLst/>
          </a:prstGeom>
          <a:solidFill>
            <a:srgbClr val="98D8C8">
              <a:alpha val="5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50292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B8A7E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02920"/>
            <a:ext cx="74980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5029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6BB5"/>
                </a:solidFill>
                <a:latin typeface="Segoe U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3B52"/>
                </a:solidFill>
                <a:latin typeface="Segoe UI"/>
              </a:rPr>
              <a:t>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755648"/>
            <a:ext cx="2103120" cy="54864"/>
          </a:xfrm>
          <a:prstGeom prst="rect">
            <a:avLst/>
          </a:prstGeom>
          <a:gradFill>
            <a:gsLst>
              <a:gs pos="0">
                <a:srgbClr val="B8A7E0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057400"/>
            <a:ext cx="553212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7EC8E3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267712"/>
            <a:ext cx="50292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F3B52"/>
                </a:solidFill>
                <a:latin typeface="Segoe UI"/>
              </a:rPr>
              <a:t>📌  PROJECT SUMMARY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4A5670"/>
                </a:solidFill>
                <a:latin typeface="Segoe UI"/>
              </a:rPr>
              <a:t>Automated web platform for anonymous student feedback &amp; faculty evaluation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4A5670"/>
                </a:solidFill>
                <a:latin typeface="Segoe UI"/>
              </a:rPr>
              <a:t>Token-based anonymity guarantees honest, fear-free responses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4A5670"/>
                </a:solidFill>
                <a:latin typeface="Segoe UI"/>
              </a:rPr>
              <a:t>AI moderation keeps every comment professional and constructive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D7EA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4A5670"/>
                </a:solidFill>
                <a:latin typeface="Segoe UI"/>
              </a:rPr>
              <a:t>Role-based portals with real-time analytics and exportable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57400"/>
            <a:ext cx="5266944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8D8C8"/>
            </a:solidFill>
          </a:ln>
          <a:effectLst>
            <a:outerShdw blurRad="100000" dist="35000" dir="5400000" rotWithShape="0">
              <a:srgbClr val="B9C0D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2267712"/>
            <a:ext cx="47548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F3B52"/>
                </a:solidFill>
                <a:latin typeface="Segoe UI"/>
              </a:rPr>
              <a:t>🚀  FUTURE IMPROVEMENTS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4E9C8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2F3B52"/>
                </a:solidFill>
                <a:latin typeface="Segoe UI"/>
              </a:rPr>
              <a:t>Predictive sentiment trend modeling</a:t>
            </a:r>
            <a:r>
              <a:rPr sz="1200" b="0" i="0">
                <a:solidFill>
                  <a:srgbClr val="6B7690"/>
                </a:solidFill>
                <a:latin typeface="Segoe UI"/>
              </a:rPr>
              <a:t>   across semesters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4E9C8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2F3B52"/>
                </a:solidFill>
                <a:latin typeface="Segoe UI"/>
              </a:rPr>
              <a:t>LMS integration</a:t>
            </a:r>
            <a:r>
              <a:rPr sz="1200" b="0" i="0">
                <a:solidFill>
                  <a:srgbClr val="6B7690"/>
                </a:solidFill>
                <a:latin typeface="Segoe UI"/>
              </a:rPr>
              <a:t>   Canvas, Moodle, Blackboard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4E9C8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2F3B52"/>
                </a:solidFill>
                <a:latin typeface="Segoe UI"/>
              </a:rPr>
              <a:t>Multi-language support</a:t>
            </a:r>
            <a:r>
              <a:rPr sz="1200" b="0" i="0">
                <a:solidFill>
                  <a:srgbClr val="6B7690"/>
                </a:solidFill>
                <a:latin typeface="Segoe UI"/>
              </a:rPr>
              <a:t>   localized feedback forms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4E9C88"/>
                </a:solidFill>
                <a:latin typeface="Segoe UI"/>
              </a:rPr>
              <a:t>•  </a:t>
            </a:r>
            <a:r>
              <a:rPr sz="1300" b="1" i="0">
                <a:solidFill>
                  <a:srgbClr val="2F3B52"/>
                </a:solidFill>
                <a:latin typeface="Segoe UI"/>
              </a:rPr>
              <a:t>Mobile application</a:t>
            </a:r>
            <a:r>
              <a:rPr sz="1200" b="0" i="0">
                <a:solidFill>
                  <a:srgbClr val="6B7690"/>
                </a:solidFill>
                <a:latin typeface="Segoe UI"/>
              </a:rPr>
              <a:t>   on-the-go evaluations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52160"/>
            <a:ext cx="11055096" cy="5669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8D8C8"/>
              </a:gs>
              <a:gs pos="100000">
                <a:srgbClr val="7EC8E3"/>
              </a:gs>
            </a:gsLst>
            <a:lin ang="27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5852160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A complete, viva-ready system — delivered, tested and documented end-to-end.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Group F25PROJECT56B6C   ·   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AF8F4"/>
              </a:gs>
              <a:gs pos="100000">
                <a:srgbClr val="F1EEF7"/>
              </a:gs>
            </a:gsLst>
            <a:lin ang="63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1828800"/>
            <a:ext cx="5120640" cy="5120640"/>
          </a:xfrm>
          <a:prstGeom prst="ellipse">
            <a:avLst/>
          </a:prstGeom>
          <a:solidFill>
            <a:srgbClr val="7EC8E3">
              <a:alpha val="6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011680" y="4937760"/>
            <a:ext cx="4206240" cy="4206240"/>
          </a:xfrm>
          <a:prstGeom prst="ellipse">
            <a:avLst/>
          </a:prstGeom>
          <a:solidFill>
            <a:srgbClr val="B8A7E0">
              <a:alpha val="60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63840" y="4937760"/>
            <a:ext cx="3108960" cy="3108960"/>
          </a:xfrm>
          <a:prstGeom prst="ellipse">
            <a:avLst/>
          </a:prstGeom>
          <a:solidFill>
            <a:srgbClr val="98D8C8">
              <a:alpha val="55000"/>
            </a:srgb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540000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2F3B52"/>
                </a:solidFill>
                <a:latin typeface="Segoe UI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291840"/>
            <a:ext cx="2286000" cy="64008"/>
          </a:xfrm>
          <a:prstGeom prst="rect">
            <a:avLst/>
          </a:prstGeom>
          <a:gradFill>
            <a:gsLst>
              <a:gs pos="0">
                <a:srgbClr val="7EC8E3"/>
              </a:gs>
              <a:gs pos="100000">
                <a:srgbClr val="B8A7E0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B7690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A3B5"/>
                </a:solidFill>
                <a:latin typeface="Segoe UI"/>
              </a:rPr>
              <a:t>Muhammad Nouman  ·  BC220410458  ·  Virtual University of Pakistan  ·  Group F25PROJECT56B6C</a:t>
            </a:r>
          </a:p>
        </p:txBody>
      </p:sp>
      <p:sp>
        <p:nvSpPr>
          <p:cNvPr id="11" name="Oval 10"/>
          <p:cNvSpPr/>
          <p:nvPr/>
        </p:nvSpPr>
        <p:spPr>
          <a:xfrm>
            <a:off x="11109960" y="1691640"/>
            <a:ext cx="640080" cy="640080"/>
          </a:xfrm>
          <a:prstGeom prst="ellipse">
            <a:avLst/>
          </a:prstGeom>
          <a:solidFill>
            <a:srgbClr val="BFE0F0">
              <a:alpha val="100000"/>
            </a:srgbClr>
          </a:solidFill>
          <a:ln w="12700">
            <a:solidFill>
              <a:srgbClr val="7EC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0996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7EA6"/>
                </a:solidFill>
                <a:latin typeface="Segoe UI"/>
              </a:rPr>
              <a:t>🙏</a:t>
            </a:r>
          </a:p>
        </p:txBody>
      </p:sp>
      <p:sp>
        <p:nvSpPr>
          <p:cNvPr id="13" name="Oval 12"/>
          <p:cNvSpPr/>
          <p:nvPr/>
        </p:nvSpPr>
        <p:spPr>
          <a:xfrm>
            <a:off x="11247120" y="4206240"/>
            <a:ext cx="640080" cy="640080"/>
          </a:xfrm>
          <a:prstGeom prst="ellipse">
            <a:avLst/>
          </a:prstGeom>
          <a:solidFill>
            <a:srgbClr val="D9CEF2">
              <a:alpha val="100000"/>
            </a:srgbClr>
          </a:solidFill>
          <a:ln w="12700">
            <a:solidFill>
              <a:srgbClr val="B8A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0" y="4206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C6BB5"/>
                </a:solidFill>
                <a:latin typeface="Segoe UI"/>
              </a:rPr>
              <a:t>💬</a:t>
            </a:r>
          </a:p>
        </p:txBody>
      </p:sp>
      <p:sp>
        <p:nvSpPr>
          <p:cNvPr id="15" name="Oval 14"/>
          <p:cNvSpPr/>
          <p:nvPr/>
        </p:nvSpPr>
        <p:spPr>
          <a:xfrm>
            <a:off x="10012680" y="5212080"/>
            <a:ext cx="603504" cy="603504"/>
          </a:xfrm>
          <a:prstGeom prst="ellipse">
            <a:avLst/>
          </a:prstGeom>
          <a:solidFill>
            <a:srgbClr val="C8ECDF">
              <a:alpha val="100000"/>
            </a:srgbClr>
          </a:solidFill>
          <a:ln w="12700">
            <a:solidFill>
              <a:srgbClr val="98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12680" y="521208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E9C88"/>
                </a:solidFill>
                <a:latin typeface="Segoe UI"/>
              </a:rP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3B5"/>
                </a:solidFill>
                <a:latin typeface="Segoe UI"/>
              </a:rPr>
              <a:t>SCHOLAR METRIC  ·  FINAL VIVA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1331</Words>
  <Application>Microsoft Office PowerPoint</Application>
  <PresentationFormat>Widescreen</PresentationFormat>
  <Paragraphs>269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Nouman</cp:lastModifiedBy>
  <cp:revision>3</cp:revision>
  <dcterms:created xsi:type="dcterms:W3CDTF">2013-01-27T09:14:16Z</dcterms:created>
  <dcterms:modified xsi:type="dcterms:W3CDTF">2026-07-31T19:11:29Z</dcterms:modified>
  <cp:category/>
</cp:coreProperties>
</file>